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4" r:id="rId3"/>
    <p:sldId id="283" r:id="rId4"/>
    <p:sldId id="274" r:id="rId5"/>
    <p:sldId id="259" r:id="rId6"/>
    <p:sldId id="261" r:id="rId7"/>
    <p:sldId id="260" r:id="rId8"/>
    <p:sldId id="262" r:id="rId9"/>
    <p:sldId id="282" r:id="rId10"/>
    <p:sldId id="275" r:id="rId11"/>
    <p:sldId id="290" r:id="rId12"/>
    <p:sldId id="276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B673"/>
    <a:srgbClr val="E74C3C"/>
    <a:srgbClr val="090909"/>
    <a:srgbClr val="1A1A1A"/>
    <a:srgbClr val="2E2E2E"/>
    <a:srgbClr val="9B59B6"/>
    <a:srgbClr val="F39C12"/>
    <a:srgbClr val="27AE60"/>
    <a:srgbClr val="D4A528"/>
    <a:srgbClr val="349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47" autoAdjust="0"/>
    <p:restoredTop sz="80131" autoAdjust="0"/>
  </p:normalViewPr>
  <p:slideViewPr>
    <p:cSldViewPr snapToGrid="0" snapToObjects="1">
      <p:cViewPr varScale="1">
        <p:scale>
          <a:sx n="87" d="100"/>
          <a:sy n="87" d="100"/>
        </p:scale>
        <p:origin x="1531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2938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37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hu-HU" b="1" dirty="0" err="1"/>
              <a:t>Fragmented</a:t>
            </a:r>
            <a:r>
              <a:rPr lang="hu-HU" b="1" dirty="0"/>
              <a:t> market</a:t>
            </a:r>
            <a:r>
              <a:rPr lang="hu-HU" dirty="0"/>
              <a:t>: 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digital presence for local restaurants</a:t>
            </a:r>
            <a:endParaRPr lang="hu-HU" sz="120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AutoNum type="arabicParenR"/>
            </a:pPr>
            <a:r>
              <a:rPr lang="hu-HU" sz="1200" b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r>
              <a:rPr lang="hu-HU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</a:t>
            </a:r>
            <a:r>
              <a:rPr lang="hu-HU" sz="1200" b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r>
              <a:rPr lang="hu-HU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hu-HU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r>
              <a:rPr lang="hu-HU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r>
              <a:rPr lang="hu-HU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hu-HU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r>
              <a:rPr lang="hu-HU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r>
              <a:rPr lang="hu-HU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service </a:t>
            </a:r>
            <a:r>
              <a:rPr lang="hu-HU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</a:t>
            </a:r>
            <a:r>
              <a:rPr lang="hu-HU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hu-HU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r>
              <a:rPr lang="hu-HU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r>
              <a:rPr lang="hu-HU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Management</a:t>
            </a:r>
            <a:r>
              <a:rPr lang="hu-H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struggle to manage and deliver orders.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hu-HU" sz="1200" b="1" dirty="0" err="1"/>
              <a:t>Our</a:t>
            </a:r>
            <a:r>
              <a:rPr lang="hu-HU" sz="1200" b="1" dirty="0"/>
              <a:t> </a:t>
            </a:r>
            <a:r>
              <a:rPr lang="hu-HU" sz="1200" b="1" dirty="0" err="1"/>
              <a:t>solution</a:t>
            </a:r>
            <a:r>
              <a:rPr lang="hu-HU" sz="1200" dirty="0"/>
              <a:t>: 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responsive platform with role-based access &amp; real-time orders.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sz="1200" dirty="0"/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Controller</a:t>
            </a:r>
            <a:r>
              <a:rPr lang="hu-HU" dirty="0"/>
              <a:t>: Rest </a:t>
            </a:r>
            <a:r>
              <a:rPr lang="hu-HU" dirty="0" err="1"/>
              <a:t>Endpoint</a:t>
            </a:r>
            <a:r>
              <a:rPr lang="hu-HU" dirty="0"/>
              <a:t>: </a:t>
            </a:r>
            <a:r>
              <a:rPr lang="hu-HU" dirty="0" err="1"/>
              <a:t>Defines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REST API </a:t>
            </a:r>
            <a:r>
              <a:rPr lang="hu-HU" dirty="0" err="1"/>
              <a:t>endpoints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handles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http </a:t>
            </a:r>
            <a:r>
              <a:rPr lang="hu-HU" dirty="0" err="1"/>
              <a:t>requests</a:t>
            </a:r>
            <a:endParaRPr lang="hu-HU" dirty="0"/>
          </a:p>
          <a:p>
            <a:r>
              <a:rPr lang="hu-HU" dirty="0"/>
              <a:t>Service: </a:t>
            </a:r>
            <a:r>
              <a:rPr lang="hu-HU" dirty="0" err="1"/>
              <a:t>Stateless</a:t>
            </a:r>
            <a:r>
              <a:rPr lang="hu-HU" dirty="0"/>
              <a:t>: </a:t>
            </a:r>
            <a:r>
              <a:rPr lang="hu-HU" dirty="0" err="1"/>
              <a:t>Contains</a:t>
            </a:r>
            <a:r>
              <a:rPr lang="hu-HU" dirty="0"/>
              <a:t> business </a:t>
            </a:r>
            <a:r>
              <a:rPr lang="hu-HU" dirty="0" err="1"/>
              <a:t>logic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processes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and </a:t>
            </a:r>
            <a:r>
              <a:rPr lang="hu-HU" dirty="0" err="1"/>
              <a:t>executes</a:t>
            </a:r>
            <a:r>
              <a:rPr lang="hu-HU" dirty="0"/>
              <a:t> </a:t>
            </a:r>
            <a:r>
              <a:rPr lang="hu-HU" dirty="0" err="1"/>
              <a:t>operations</a:t>
            </a:r>
            <a:endParaRPr lang="hu-HU" dirty="0"/>
          </a:p>
          <a:p>
            <a:r>
              <a:rPr lang="hu-HU" dirty="0" err="1"/>
              <a:t>Model</a:t>
            </a:r>
            <a:r>
              <a:rPr lang="hu-HU" dirty="0"/>
              <a:t>: </a:t>
            </a:r>
            <a:r>
              <a:rPr lang="hu-HU" dirty="0" err="1"/>
              <a:t>Defines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</a:t>
            </a:r>
            <a:r>
              <a:rPr lang="hu-HU" dirty="0" err="1"/>
              <a:t>structures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represents</a:t>
            </a:r>
            <a:r>
              <a:rPr lang="hu-HU" dirty="0"/>
              <a:t> </a:t>
            </a:r>
            <a:r>
              <a:rPr lang="hu-HU" dirty="0" err="1"/>
              <a:t>entitites</a:t>
            </a:r>
            <a:r>
              <a:rPr lang="hu-HU" dirty="0"/>
              <a:t> like </a:t>
            </a:r>
            <a:r>
              <a:rPr lang="hu-HU" dirty="0" err="1"/>
              <a:t>users</a:t>
            </a:r>
            <a:r>
              <a:rPr lang="hu-HU" dirty="0"/>
              <a:t>, </a:t>
            </a:r>
            <a:r>
              <a:rPr lang="hu-HU" dirty="0" err="1"/>
              <a:t>orders</a:t>
            </a:r>
            <a:r>
              <a:rPr lang="hu-HU" dirty="0"/>
              <a:t> etc..</a:t>
            </a:r>
          </a:p>
          <a:p>
            <a:r>
              <a:rPr lang="hu-HU" dirty="0" err="1"/>
              <a:t>Config</a:t>
            </a:r>
            <a:r>
              <a:rPr lang="hu-HU" dirty="0"/>
              <a:t>: </a:t>
            </a:r>
            <a:r>
              <a:rPr lang="hu-HU" dirty="0" err="1"/>
              <a:t>Enables</a:t>
            </a:r>
            <a:r>
              <a:rPr lang="hu-HU" dirty="0"/>
              <a:t> </a:t>
            </a:r>
            <a:r>
              <a:rPr lang="hu-HU" dirty="0" err="1"/>
              <a:t>cross-origin</a:t>
            </a:r>
            <a:r>
              <a:rPr lang="hu-HU" dirty="0"/>
              <a:t> </a:t>
            </a:r>
            <a:r>
              <a:rPr lang="hu-HU" dirty="0" err="1"/>
              <a:t>requests</a:t>
            </a:r>
            <a:r>
              <a:rPr lang="hu-HU" dirty="0"/>
              <a:t> and </a:t>
            </a:r>
            <a:r>
              <a:rPr lang="hu-HU" dirty="0" err="1"/>
              <a:t>handles</a:t>
            </a:r>
            <a:r>
              <a:rPr lang="hu-HU" dirty="0"/>
              <a:t> 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auth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tokens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1)</a:t>
            </a:r>
            <a:r>
              <a:rPr lang="hu-HU" dirty="0" err="1"/>
              <a:t>Customer</a:t>
            </a:r>
            <a:r>
              <a:rPr lang="hu-HU" dirty="0"/>
              <a:t>: -</a:t>
            </a:r>
            <a:r>
              <a:rPr lang="hu-HU" dirty="0" err="1"/>
              <a:t>Browse</a:t>
            </a:r>
            <a:r>
              <a:rPr lang="hu-HU" dirty="0"/>
              <a:t> </a:t>
            </a:r>
            <a:r>
              <a:rPr lang="hu-HU" dirty="0" err="1"/>
              <a:t>menus</a:t>
            </a:r>
            <a:r>
              <a:rPr lang="hu-HU" dirty="0"/>
              <a:t> and </a:t>
            </a:r>
            <a:r>
              <a:rPr lang="hu-HU" dirty="0" err="1"/>
              <a:t>restaurants</a:t>
            </a:r>
            <a:endParaRPr lang="hu-HU" dirty="0"/>
          </a:p>
          <a:p>
            <a:r>
              <a:rPr lang="hu-HU" dirty="0"/>
              <a:t>	-</a:t>
            </a:r>
            <a:r>
              <a:rPr lang="hu-HU" dirty="0" err="1"/>
              <a:t>Place</a:t>
            </a:r>
            <a:r>
              <a:rPr lang="hu-HU" dirty="0"/>
              <a:t> and </a:t>
            </a:r>
            <a:r>
              <a:rPr lang="hu-HU" dirty="0" err="1"/>
              <a:t>track</a:t>
            </a:r>
            <a:r>
              <a:rPr lang="hu-HU" dirty="0"/>
              <a:t> </a:t>
            </a:r>
            <a:r>
              <a:rPr lang="hu-HU" dirty="0" err="1"/>
              <a:t>orders</a:t>
            </a:r>
            <a:endParaRPr lang="hu-HU" dirty="0"/>
          </a:p>
          <a:p>
            <a:r>
              <a:rPr lang="hu-HU" dirty="0"/>
              <a:t>	-</a:t>
            </a:r>
            <a:r>
              <a:rPr lang="hu-HU" dirty="0" err="1"/>
              <a:t>Manage</a:t>
            </a:r>
            <a:r>
              <a:rPr lang="hu-HU" dirty="0"/>
              <a:t> </a:t>
            </a:r>
            <a:r>
              <a:rPr lang="hu-HU" dirty="0" err="1"/>
              <a:t>cart</a:t>
            </a:r>
            <a:endParaRPr lang="hu-HU" dirty="0"/>
          </a:p>
          <a:p>
            <a:r>
              <a:rPr lang="hu-HU" dirty="0"/>
              <a:t>	-</a:t>
            </a:r>
            <a:r>
              <a:rPr lang="hu-HU" dirty="0" err="1"/>
              <a:t>Write</a:t>
            </a:r>
            <a:r>
              <a:rPr lang="hu-HU" dirty="0"/>
              <a:t> </a:t>
            </a:r>
            <a:r>
              <a:rPr lang="hu-HU" dirty="0" err="1"/>
              <a:t>reviews</a:t>
            </a:r>
            <a:r>
              <a:rPr lang="hu-HU" dirty="0"/>
              <a:t> per </a:t>
            </a:r>
            <a:r>
              <a:rPr lang="hu-HU" dirty="0" err="1"/>
              <a:t>order</a:t>
            </a:r>
            <a:endParaRPr lang="hu-HU" dirty="0"/>
          </a:p>
          <a:p>
            <a:r>
              <a:rPr lang="hu-HU" dirty="0"/>
              <a:t>	-</a:t>
            </a:r>
            <a:r>
              <a:rPr lang="hu-HU" dirty="0" err="1"/>
              <a:t>Profile</a:t>
            </a:r>
            <a:r>
              <a:rPr lang="hu-HU" dirty="0"/>
              <a:t> </a:t>
            </a:r>
            <a:r>
              <a:rPr lang="hu-HU" dirty="0" err="1"/>
              <a:t>changes</a:t>
            </a:r>
            <a:endParaRPr lang="hu-HU" dirty="0"/>
          </a:p>
          <a:p>
            <a:r>
              <a:rPr lang="hu-HU" dirty="0"/>
              <a:t>	-Email </a:t>
            </a:r>
            <a:r>
              <a:rPr lang="hu-HU" dirty="0" err="1"/>
              <a:t>confirmation</a:t>
            </a:r>
            <a:r>
              <a:rPr lang="hu-HU" dirty="0"/>
              <a:t> of </a:t>
            </a:r>
            <a:r>
              <a:rPr lang="hu-HU" dirty="0" err="1"/>
              <a:t>orders</a:t>
            </a:r>
            <a:r>
              <a:rPr lang="hu-HU" dirty="0"/>
              <a:t> </a:t>
            </a:r>
            <a:r>
              <a:rPr lang="hu-HU" dirty="0" err="1"/>
              <a:t>profile</a:t>
            </a:r>
            <a:r>
              <a:rPr lang="hu-HU" dirty="0"/>
              <a:t> </a:t>
            </a:r>
            <a:r>
              <a:rPr lang="hu-HU" dirty="0" err="1"/>
              <a:t>changes</a:t>
            </a:r>
            <a:r>
              <a:rPr lang="hu-HU" dirty="0"/>
              <a:t> and </a:t>
            </a:r>
            <a:r>
              <a:rPr lang="hu-HU" dirty="0" err="1"/>
              <a:t>written</a:t>
            </a:r>
            <a:r>
              <a:rPr lang="hu-HU" dirty="0"/>
              <a:t> </a:t>
            </a:r>
            <a:r>
              <a:rPr lang="hu-HU" dirty="0" err="1"/>
              <a:t>reviews</a:t>
            </a:r>
            <a:endParaRPr lang="hu-HU" dirty="0"/>
          </a:p>
          <a:p>
            <a:r>
              <a:rPr lang="hu-HU" dirty="0"/>
              <a:t>2)</a:t>
            </a:r>
            <a:r>
              <a:rPr lang="hu-HU" dirty="0" err="1"/>
              <a:t>Admin</a:t>
            </a:r>
            <a:r>
              <a:rPr lang="hu-HU" dirty="0"/>
              <a:t>:          -</a:t>
            </a:r>
            <a:r>
              <a:rPr lang="hu-HU" dirty="0" err="1"/>
              <a:t>Manage</a:t>
            </a:r>
            <a:r>
              <a:rPr lang="hu-HU" dirty="0"/>
              <a:t> </a:t>
            </a:r>
            <a:r>
              <a:rPr lang="hu-HU" dirty="0" err="1"/>
              <a:t>all</a:t>
            </a:r>
            <a:r>
              <a:rPr lang="hu-HU" dirty="0"/>
              <a:t> </a:t>
            </a:r>
            <a:r>
              <a:rPr lang="hu-HU" dirty="0" err="1"/>
              <a:t>customers</a:t>
            </a:r>
            <a:r>
              <a:rPr lang="hu-HU" dirty="0"/>
              <a:t> and update </a:t>
            </a:r>
            <a:r>
              <a:rPr lang="hu-HU" dirty="0" err="1"/>
              <a:t>customers</a:t>
            </a:r>
            <a:r>
              <a:rPr lang="hu-HU" dirty="0"/>
              <a:t> </a:t>
            </a:r>
            <a:r>
              <a:rPr lang="hu-HU" dirty="0" err="1"/>
              <a:t>profiles</a:t>
            </a:r>
            <a:endParaRPr lang="hu-HU" dirty="0"/>
          </a:p>
          <a:p>
            <a:r>
              <a:rPr lang="hu-HU" dirty="0"/>
              <a:t>	-</a:t>
            </a:r>
            <a:r>
              <a:rPr lang="hu-HU" dirty="0" err="1"/>
              <a:t>Full</a:t>
            </a:r>
            <a:r>
              <a:rPr lang="hu-HU" dirty="0"/>
              <a:t> </a:t>
            </a:r>
            <a:r>
              <a:rPr lang="hu-HU" dirty="0" err="1"/>
              <a:t>order</a:t>
            </a:r>
            <a:r>
              <a:rPr lang="hu-HU" dirty="0"/>
              <a:t> </a:t>
            </a:r>
            <a:r>
              <a:rPr lang="hu-HU" dirty="0" err="1"/>
              <a:t>oversight</a:t>
            </a:r>
            <a:endParaRPr lang="hu-HU" dirty="0"/>
          </a:p>
          <a:p>
            <a:r>
              <a:rPr lang="hu-HU" dirty="0"/>
              <a:t>	-System </a:t>
            </a:r>
            <a:r>
              <a:rPr lang="hu-HU" dirty="0" err="1"/>
              <a:t>wide</a:t>
            </a:r>
            <a:r>
              <a:rPr lang="hu-HU" dirty="0"/>
              <a:t> monitoring</a:t>
            </a:r>
          </a:p>
          <a:p>
            <a:r>
              <a:rPr lang="hu-HU" dirty="0"/>
              <a:t>	-</a:t>
            </a:r>
            <a:r>
              <a:rPr lang="hu-HU" dirty="0" err="1"/>
              <a:t>See</a:t>
            </a:r>
            <a:r>
              <a:rPr lang="hu-HU" dirty="0"/>
              <a:t> </a:t>
            </a:r>
            <a:r>
              <a:rPr lang="hu-HU" dirty="0" err="1"/>
              <a:t>analitycs</a:t>
            </a:r>
            <a:endParaRPr lang="hu-HU" dirty="0"/>
          </a:p>
          <a:p>
            <a:r>
              <a:rPr lang="hu-HU" dirty="0"/>
              <a:t>3)Restaurant </a:t>
            </a:r>
            <a:r>
              <a:rPr lang="hu-HU" dirty="0" err="1"/>
              <a:t>owner</a:t>
            </a:r>
            <a:r>
              <a:rPr lang="hu-HU" dirty="0"/>
              <a:t>: -</a:t>
            </a:r>
            <a:r>
              <a:rPr lang="hu-HU" dirty="0" err="1"/>
              <a:t>Do</a:t>
            </a:r>
            <a:r>
              <a:rPr lang="hu-HU" dirty="0"/>
              <a:t> </a:t>
            </a:r>
            <a:r>
              <a:rPr lang="hu-HU" dirty="0" err="1"/>
              <a:t>all</a:t>
            </a:r>
            <a:r>
              <a:rPr lang="hu-HU" dirty="0"/>
              <a:t> </a:t>
            </a:r>
            <a:r>
              <a:rPr lang="hu-HU" dirty="0" err="1"/>
              <a:t>things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admins</a:t>
            </a:r>
            <a:r>
              <a:rPr lang="hu-HU" dirty="0"/>
              <a:t> </a:t>
            </a:r>
            <a:r>
              <a:rPr lang="hu-HU" dirty="0" err="1"/>
              <a:t>can</a:t>
            </a:r>
            <a:endParaRPr lang="hu-HU" dirty="0"/>
          </a:p>
          <a:p>
            <a:r>
              <a:rPr lang="hu-HU" dirty="0"/>
              <a:t>	         - </a:t>
            </a:r>
            <a:r>
              <a:rPr lang="hu-HU" dirty="0" err="1"/>
              <a:t>manage</a:t>
            </a:r>
            <a:r>
              <a:rPr lang="hu-HU" dirty="0"/>
              <a:t> </a:t>
            </a:r>
            <a:r>
              <a:rPr lang="hu-HU" dirty="0" err="1"/>
              <a:t>own</a:t>
            </a:r>
            <a:r>
              <a:rPr lang="hu-HU" dirty="0"/>
              <a:t> restaurant </a:t>
            </a:r>
            <a:r>
              <a:rPr lang="hu-HU" dirty="0" err="1"/>
              <a:t>profile</a:t>
            </a:r>
            <a:endParaRPr lang="hu-HU" dirty="0"/>
          </a:p>
          <a:p>
            <a:r>
              <a:rPr lang="hu-HU" dirty="0"/>
              <a:t>	         - add/</a:t>
            </a:r>
            <a:r>
              <a:rPr lang="hu-HU" dirty="0" err="1"/>
              <a:t>edit</a:t>
            </a:r>
            <a:r>
              <a:rPr lang="hu-HU" dirty="0"/>
              <a:t>/</a:t>
            </a:r>
            <a:r>
              <a:rPr lang="hu-HU" dirty="0" err="1"/>
              <a:t>delete</a:t>
            </a:r>
            <a:r>
              <a:rPr lang="hu-HU" dirty="0"/>
              <a:t> </a:t>
            </a:r>
            <a:r>
              <a:rPr lang="hu-HU" dirty="0" err="1"/>
              <a:t>menus</a:t>
            </a:r>
            <a:endParaRPr lang="hu-HU" dirty="0"/>
          </a:p>
          <a:p>
            <a:r>
              <a:rPr lang="hu-HU" dirty="0"/>
              <a:t>	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1) Auth &amp; </a:t>
            </a:r>
            <a:r>
              <a:rPr lang="hu-HU" dirty="0" err="1"/>
              <a:t>security</a:t>
            </a:r>
            <a:r>
              <a:rPr lang="hu-HU" dirty="0"/>
              <a:t>: </a:t>
            </a:r>
            <a:r>
              <a:rPr lang="en-US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JWT sessions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2)Email: 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HTML templates for orders &amp; profiles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3) </a:t>
            </a:r>
            <a:r>
              <a:rPr lang="hu-HU" dirty="0" err="1"/>
              <a:t>Review</a:t>
            </a:r>
            <a:r>
              <a:rPr lang="hu-HU" dirty="0"/>
              <a:t>: 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per completed order</a:t>
            </a:r>
            <a:endParaRPr lang="hu-HU" sz="120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</a:t>
            </a:r>
            <a:r>
              <a:rPr lang="hu-HU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r>
              <a:rPr lang="hu-HU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managemant</a:t>
            </a:r>
            <a:r>
              <a:rPr lang="hu-HU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oversight · user management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Admin Dashboard</a:t>
            </a:r>
            <a:r>
              <a:rPr lang="hu-H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· status tracking · owner workflow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dirty="0"/>
              <a:t>6) Rest API: 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· Postman tested · CORS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Github</a:t>
            </a:r>
            <a:r>
              <a:rPr lang="hu-HU" dirty="0"/>
              <a:t>: 1 </a:t>
            </a:r>
            <a:r>
              <a:rPr lang="hu-HU" dirty="0" err="1"/>
              <a:t>branch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each</a:t>
            </a:r>
            <a:r>
              <a:rPr lang="hu-HU" dirty="0"/>
              <a:t> </a:t>
            </a:r>
            <a:r>
              <a:rPr lang="hu-HU" dirty="0" err="1"/>
              <a:t>person</a:t>
            </a:r>
            <a:r>
              <a:rPr lang="hu-HU" dirty="0"/>
              <a:t> and 1 main</a:t>
            </a:r>
          </a:p>
          <a:p>
            <a:r>
              <a:rPr lang="hu-HU" dirty="0" err="1"/>
              <a:t>Jira</a:t>
            </a:r>
            <a:r>
              <a:rPr lang="hu-HU" dirty="0"/>
              <a:t>: </a:t>
            </a:r>
            <a:r>
              <a:rPr lang="hu-HU" dirty="0" err="1"/>
              <a:t>Each</a:t>
            </a:r>
            <a:r>
              <a:rPr lang="hu-HU" dirty="0"/>
              <a:t> </a:t>
            </a:r>
            <a:r>
              <a:rPr lang="hu-HU" dirty="0" err="1"/>
              <a:t>task</a:t>
            </a:r>
            <a:r>
              <a:rPr lang="hu-HU" dirty="0"/>
              <a:t> </a:t>
            </a:r>
            <a:r>
              <a:rPr lang="hu-HU" dirty="0" err="1"/>
              <a:t>reported</a:t>
            </a:r>
            <a:r>
              <a:rPr lang="hu-HU" dirty="0"/>
              <a:t> </a:t>
            </a:r>
          </a:p>
          <a:p>
            <a:r>
              <a:rPr lang="hu-HU" dirty="0"/>
              <a:t>       Time </a:t>
            </a:r>
            <a:r>
              <a:rPr lang="hu-HU" dirty="0" err="1"/>
              <a:t>spent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tasks</a:t>
            </a:r>
            <a:r>
              <a:rPr lang="hu-HU" dirty="0"/>
              <a:t> </a:t>
            </a:r>
            <a:r>
              <a:rPr lang="hu-HU" dirty="0" err="1"/>
              <a:t>tracked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Clockwork</a:t>
            </a:r>
            <a:endParaRPr lang="hu-HU" dirty="0"/>
          </a:p>
          <a:p>
            <a:r>
              <a:rPr lang="hu-HU" dirty="0"/>
              <a:t>       Total </a:t>
            </a:r>
            <a:r>
              <a:rPr lang="hu-HU" dirty="0" err="1"/>
              <a:t>worked</a:t>
            </a:r>
            <a:r>
              <a:rPr lang="hu-HU" dirty="0"/>
              <a:t> </a:t>
            </a:r>
            <a:r>
              <a:rPr lang="hu-HU" dirty="0" err="1"/>
              <a:t>hours</a:t>
            </a:r>
            <a:r>
              <a:rPr lang="hu-HU" dirty="0"/>
              <a:t>: 190hours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hu-HU" dirty="0"/>
              <a:t>Real online </a:t>
            </a:r>
            <a:r>
              <a:rPr lang="hu-HU" dirty="0" err="1"/>
              <a:t>payment</a:t>
            </a:r>
            <a:r>
              <a:rPr lang="hu-HU" dirty="0"/>
              <a:t>: 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Stripe/Barion integration for card payments</a:t>
            </a:r>
            <a:endParaRPr lang="hu-HU" sz="120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or Flutter application for iOS and Android with push notifications.</a:t>
            </a:r>
            <a:endParaRPr lang="en-US" sz="1200" dirty="0"/>
          </a:p>
          <a:p>
            <a:pPr marL="228600" indent="-228600">
              <a:buAutoNum type="arabicParenR"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WebSocket-based live order status updates and map-based delivery tracking</a:t>
            </a:r>
            <a:endParaRPr lang="hu-HU" sz="120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sales analytics, peak hours, revenue reports for restaurant owners.</a:t>
            </a:r>
            <a:endParaRPr lang="en-US" sz="1200" dirty="0"/>
          </a:p>
          <a:p>
            <a:pPr marL="228600" indent="-228600">
              <a:buAutoNum type="arabicParenR"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integration for SMS order confirmations and delivery alerts</a:t>
            </a:r>
            <a:endParaRPr lang="hu-HU" sz="120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based restaurant and dish recommendations per user preferences.</a:t>
            </a:r>
            <a:endParaRPr lang="en-US" sz="1200" dirty="0"/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42424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943600" cy="73152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620" y="1122680"/>
            <a:ext cx="2418080" cy="2418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KLSZ Faloda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Platform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7200" y="24871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Kocsis Szabolcs Ernő</a:t>
            </a:r>
          </a:p>
          <a:p>
            <a:pPr marL="0" indent="0">
              <a:buNone/>
            </a:pPr>
            <a:r>
              <a:rPr lang="hu-HU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 Levente Bánk</a:t>
            </a:r>
          </a:p>
          <a:p>
            <a:pPr marL="0" indent="0">
              <a:buNone/>
            </a:pPr>
            <a:r>
              <a:rPr lang="hu-HU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Pásztor Kevin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églalap: lekerekített 84">
            <a:extLst>
              <a:ext uri="{FF2B5EF4-FFF2-40B4-BE49-F238E27FC236}">
                <a16:creationId xmlns:a16="http://schemas.microsoft.com/office/drawing/2014/main" id="{922E1BA9-854A-CB8B-2775-E72855F14E4E}"/>
              </a:ext>
            </a:extLst>
          </p:cNvPr>
          <p:cNvSpPr/>
          <p:nvPr/>
        </p:nvSpPr>
        <p:spPr>
          <a:xfrm>
            <a:off x="6485825" y="1188485"/>
            <a:ext cx="2101851" cy="3440411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D4A5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9" name="Téglalap: lekerekített 78">
            <a:extLst>
              <a:ext uri="{FF2B5EF4-FFF2-40B4-BE49-F238E27FC236}">
                <a16:creationId xmlns:a16="http://schemas.microsoft.com/office/drawing/2014/main" id="{FF1E33B7-87A6-FBE5-8335-3642CE814E22}"/>
              </a:ext>
            </a:extLst>
          </p:cNvPr>
          <p:cNvSpPr/>
          <p:nvPr/>
        </p:nvSpPr>
        <p:spPr>
          <a:xfrm>
            <a:off x="3535266" y="1173225"/>
            <a:ext cx="2101851" cy="3440411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D4A5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0" name="Téglalap: lekerekített 69">
            <a:extLst>
              <a:ext uri="{FF2B5EF4-FFF2-40B4-BE49-F238E27FC236}">
                <a16:creationId xmlns:a16="http://schemas.microsoft.com/office/drawing/2014/main" id="{72F4D296-8327-88CD-6E56-6DC60AF15FA6}"/>
              </a:ext>
            </a:extLst>
          </p:cNvPr>
          <p:cNvSpPr/>
          <p:nvPr/>
        </p:nvSpPr>
        <p:spPr>
          <a:xfrm>
            <a:off x="549909" y="1182389"/>
            <a:ext cx="2101851" cy="3440411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D4A5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3000" dirty="0"/>
          </a:p>
        </p:txBody>
      </p:sp>
      <p:sp>
        <p:nvSpPr>
          <p:cNvPr id="58" name="Szövegdoboz 57">
            <a:extLst>
              <a:ext uri="{FF2B5EF4-FFF2-40B4-BE49-F238E27FC236}">
                <a16:creationId xmlns:a16="http://schemas.microsoft.com/office/drawing/2014/main" id="{2E480ED0-2953-6B73-D044-2DA1B279AA1E}"/>
              </a:ext>
            </a:extLst>
          </p:cNvPr>
          <p:cNvSpPr txBox="1"/>
          <p:nvPr/>
        </p:nvSpPr>
        <p:spPr>
          <a:xfrm>
            <a:off x="863471" y="1412150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hu-H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Pásztor Kevin</a:t>
            </a:r>
            <a:endParaRPr lang="en-US" sz="1800" dirty="0"/>
          </a:p>
        </p:txBody>
      </p:sp>
      <p:sp>
        <p:nvSpPr>
          <p:cNvPr id="60" name="Szövegdoboz 59">
            <a:extLst>
              <a:ext uri="{FF2B5EF4-FFF2-40B4-BE49-F238E27FC236}">
                <a16:creationId xmlns:a16="http://schemas.microsoft.com/office/drawing/2014/main" id="{9F949763-59FE-A43D-10A2-F6399F3830B4}"/>
              </a:ext>
            </a:extLst>
          </p:cNvPr>
          <p:cNvSpPr txBox="1"/>
          <p:nvPr/>
        </p:nvSpPr>
        <p:spPr>
          <a:xfrm>
            <a:off x="778012" y="1731096"/>
            <a:ext cx="16211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&amp; Backend </a:t>
            </a:r>
            <a:r>
              <a:rPr lang="hu-HU" sz="1200" dirty="0" err="1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63" name="Text 25">
            <a:extLst>
              <a:ext uri="{FF2B5EF4-FFF2-40B4-BE49-F238E27FC236}">
                <a16:creationId xmlns:a16="http://schemas.microsoft.com/office/drawing/2014/main" id="{40CDDC73-28D5-168E-2C2D-BD800BEE2ABD}"/>
              </a:ext>
            </a:extLst>
          </p:cNvPr>
          <p:cNvSpPr/>
          <p:nvPr/>
        </p:nvSpPr>
        <p:spPr>
          <a:xfrm>
            <a:off x="3336353" y="1417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 Levente</a:t>
            </a:r>
            <a:endParaRPr lang="en-US" dirty="0"/>
          </a:p>
        </p:txBody>
      </p:sp>
      <p:sp>
        <p:nvSpPr>
          <p:cNvPr id="65" name="Szövegdoboz 64">
            <a:extLst>
              <a:ext uri="{FF2B5EF4-FFF2-40B4-BE49-F238E27FC236}">
                <a16:creationId xmlns:a16="http://schemas.microsoft.com/office/drawing/2014/main" id="{77AE9945-54E2-A3C1-58F0-9F0A5A7DE50F}"/>
              </a:ext>
            </a:extLst>
          </p:cNvPr>
          <p:cNvSpPr txBox="1"/>
          <p:nvPr/>
        </p:nvSpPr>
        <p:spPr>
          <a:xfrm>
            <a:off x="3481450" y="1786227"/>
            <a:ext cx="2207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hu-HU" sz="1200" dirty="0" err="1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r>
              <a:rPr lang="hu-HU" sz="1200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dirty="0" err="1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>
              <a:solidFill>
                <a:srgbClr val="D4A528"/>
              </a:solidFill>
            </a:endParaRPr>
          </a:p>
        </p:txBody>
      </p:sp>
      <p:sp>
        <p:nvSpPr>
          <p:cNvPr id="66" name="Text 41">
            <a:extLst>
              <a:ext uri="{FF2B5EF4-FFF2-40B4-BE49-F238E27FC236}">
                <a16:creationId xmlns:a16="http://schemas.microsoft.com/office/drawing/2014/main" id="{D54B4089-AF5D-90AF-AC3B-4E90E22DB215}"/>
              </a:ext>
            </a:extLst>
          </p:cNvPr>
          <p:cNvSpPr/>
          <p:nvPr/>
        </p:nvSpPr>
        <p:spPr>
          <a:xfrm>
            <a:off x="6279450" y="1417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Kocsis Szabolcs</a:t>
            </a:r>
            <a:endParaRPr lang="en-US" sz="1600" dirty="0"/>
          </a:p>
        </p:txBody>
      </p:sp>
      <p:sp>
        <p:nvSpPr>
          <p:cNvPr id="68" name="Text 42">
            <a:extLst>
              <a:ext uri="{FF2B5EF4-FFF2-40B4-BE49-F238E27FC236}">
                <a16:creationId xmlns:a16="http://schemas.microsoft.com/office/drawing/2014/main" id="{FAECFE35-A248-9BC9-613F-91F1F03269C0}"/>
              </a:ext>
            </a:extLst>
          </p:cNvPr>
          <p:cNvSpPr/>
          <p:nvPr/>
        </p:nvSpPr>
        <p:spPr>
          <a:xfrm>
            <a:off x="6279450" y="17380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200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</a:t>
            </a:r>
            <a:r>
              <a:rPr lang="hu-HU" sz="1200" dirty="0" err="1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>
              <a:solidFill>
                <a:srgbClr val="D4A528"/>
              </a:solidFill>
            </a:endParaRPr>
          </a:p>
        </p:txBody>
      </p:sp>
      <p:cxnSp>
        <p:nvCxnSpPr>
          <p:cNvPr id="95" name="Egyenes összekötő 94">
            <a:extLst>
              <a:ext uri="{FF2B5EF4-FFF2-40B4-BE49-F238E27FC236}">
                <a16:creationId xmlns:a16="http://schemas.microsoft.com/office/drawing/2014/main" id="{B7EE3F8B-9ACB-77FB-1EB1-DD73008C5E8D}"/>
              </a:ext>
            </a:extLst>
          </p:cNvPr>
          <p:cNvCxnSpPr>
            <a:cxnSpLocks/>
          </p:cNvCxnSpPr>
          <p:nvPr/>
        </p:nvCxnSpPr>
        <p:spPr>
          <a:xfrm>
            <a:off x="675053" y="2674600"/>
            <a:ext cx="0" cy="142646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Csoportba foglalás 92">
            <a:extLst>
              <a:ext uri="{FF2B5EF4-FFF2-40B4-BE49-F238E27FC236}">
                <a16:creationId xmlns:a16="http://schemas.microsoft.com/office/drawing/2014/main" id="{BCCD4D19-D693-C379-3A6D-283E527E6029}"/>
              </a:ext>
            </a:extLst>
          </p:cNvPr>
          <p:cNvGrpSpPr/>
          <p:nvPr/>
        </p:nvGrpSpPr>
        <p:grpSpPr>
          <a:xfrm>
            <a:off x="636075" y="2522200"/>
            <a:ext cx="2267712" cy="1746504"/>
            <a:chOff x="653659" y="2522200"/>
            <a:chExt cx="2267712" cy="1746504"/>
          </a:xfrm>
        </p:grpSpPr>
        <p:sp>
          <p:nvSpPr>
            <p:cNvPr id="74" name="Text 12">
              <a:extLst>
                <a:ext uri="{FF2B5EF4-FFF2-40B4-BE49-F238E27FC236}">
                  <a16:creationId xmlns:a16="http://schemas.microsoft.com/office/drawing/2014/main" id="{2BD258B8-3FF6-329C-EE44-CD077BE2356C}"/>
                </a:ext>
              </a:extLst>
            </p:cNvPr>
            <p:cNvSpPr/>
            <p:nvPr/>
          </p:nvSpPr>
          <p:spPr>
            <a:xfrm>
              <a:off x="653659" y="2522200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en-US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Java EE service layer</a:t>
              </a:r>
              <a:endParaRPr lang="en-US" sz="950" dirty="0"/>
            </a:p>
          </p:txBody>
        </p:sp>
        <p:sp>
          <p:nvSpPr>
            <p:cNvPr id="75" name="Text 14">
              <a:extLst>
                <a:ext uri="{FF2B5EF4-FFF2-40B4-BE49-F238E27FC236}">
                  <a16:creationId xmlns:a16="http://schemas.microsoft.com/office/drawing/2014/main" id="{A89067E3-06F8-BF6A-4C66-51D20375F65F}"/>
                </a:ext>
              </a:extLst>
            </p:cNvPr>
            <p:cNvSpPr/>
            <p:nvPr/>
          </p:nvSpPr>
          <p:spPr>
            <a:xfrm>
              <a:off x="653659" y="2878816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en-US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Security implementation (</a:t>
              </a:r>
              <a:r>
                <a:rPr lang="en-US" sz="950" dirty="0" err="1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BCrypt</a:t>
              </a:r>
              <a:r>
                <a:rPr lang="en-US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</a:t>
              </a:r>
              <a:endParaRPr lang="en-US" sz="950" dirty="0"/>
            </a:p>
          </p:txBody>
        </p:sp>
        <p:sp>
          <p:nvSpPr>
            <p:cNvPr id="76" name="Text 16">
              <a:extLst>
                <a:ext uri="{FF2B5EF4-FFF2-40B4-BE49-F238E27FC236}">
                  <a16:creationId xmlns:a16="http://schemas.microsoft.com/office/drawing/2014/main" id="{827B1884-0644-AD0F-1FC2-8B132E06A697}"/>
                </a:ext>
              </a:extLst>
            </p:cNvPr>
            <p:cNvSpPr/>
            <p:nvPr/>
          </p:nvSpPr>
          <p:spPr>
            <a:xfrm>
              <a:off x="653659" y="3235432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en-US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Postman</a:t>
              </a:r>
              <a:r>
                <a:rPr lang="hu-HU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testing (</a:t>
              </a:r>
              <a:r>
                <a:rPr lang="hu-HU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120</a:t>
              </a:r>
              <a:r>
                <a:rPr lang="en-US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 cases)</a:t>
              </a:r>
              <a:endParaRPr lang="en-US" sz="950" dirty="0"/>
            </a:p>
          </p:txBody>
        </p:sp>
        <p:sp>
          <p:nvSpPr>
            <p:cNvPr id="77" name="Text 18">
              <a:extLst>
                <a:ext uri="{FF2B5EF4-FFF2-40B4-BE49-F238E27FC236}">
                  <a16:creationId xmlns:a16="http://schemas.microsoft.com/office/drawing/2014/main" id="{F2138E09-D5B3-15C7-D717-CFF757DAD270}"/>
                </a:ext>
              </a:extLst>
            </p:cNvPr>
            <p:cNvSpPr/>
            <p:nvPr/>
          </p:nvSpPr>
          <p:spPr>
            <a:xfrm>
              <a:off x="653659" y="3592048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en-US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WildFly deployment &amp; configuration</a:t>
              </a:r>
              <a:endParaRPr lang="en-US" sz="950" dirty="0"/>
            </a:p>
          </p:txBody>
        </p:sp>
        <p:sp>
          <p:nvSpPr>
            <p:cNvPr id="78" name="Text 20">
              <a:extLst>
                <a:ext uri="{FF2B5EF4-FFF2-40B4-BE49-F238E27FC236}">
                  <a16:creationId xmlns:a16="http://schemas.microsoft.com/office/drawing/2014/main" id="{A7D6651B-44F5-BB10-86CD-C0A55A18943D}"/>
                </a:ext>
              </a:extLst>
            </p:cNvPr>
            <p:cNvSpPr/>
            <p:nvPr/>
          </p:nvSpPr>
          <p:spPr>
            <a:xfrm>
              <a:off x="653659" y="3948664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en-US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Email service integration</a:t>
              </a:r>
              <a:endParaRPr lang="en-US" sz="950" dirty="0"/>
            </a:p>
          </p:txBody>
        </p:sp>
      </p:grpSp>
      <p:cxnSp>
        <p:nvCxnSpPr>
          <p:cNvPr id="96" name="Egyenes összekötő 95">
            <a:extLst>
              <a:ext uri="{FF2B5EF4-FFF2-40B4-BE49-F238E27FC236}">
                <a16:creationId xmlns:a16="http://schemas.microsoft.com/office/drawing/2014/main" id="{F3B5B270-D773-1B5B-1913-D65DCE0505B4}"/>
              </a:ext>
            </a:extLst>
          </p:cNvPr>
          <p:cNvCxnSpPr>
            <a:cxnSpLocks/>
          </p:cNvCxnSpPr>
          <p:nvPr/>
        </p:nvCxnSpPr>
        <p:spPr>
          <a:xfrm>
            <a:off x="3653073" y="2674219"/>
            <a:ext cx="0" cy="142646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Csoportba foglalás 90">
            <a:extLst>
              <a:ext uri="{FF2B5EF4-FFF2-40B4-BE49-F238E27FC236}">
                <a16:creationId xmlns:a16="http://schemas.microsoft.com/office/drawing/2014/main" id="{41C29F7F-3371-C324-3001-EA299708B979}"/>
              </a:ext>
            </a:extLst>
          </p:cNvPr>
          <p:cNvGrpSpPr/>
          <p:nvPr/>
        </p:nvGrpSpPr>
        <p:grpSpPr>
          <a:xfrm>
            <a:off x="3616929" y="2522200"/>
            <a:ext cx="2267712" cy="1746504"/>
            <a:chOff x="3718486" y="2522200"/>
            <a:chExt cx="2267712" cy="1746504"/>
          </a:xfrm>
        </p:grpSpPr>
        <p:sp>
          <p:nvSpPr>
            <p:cNvPr id="80" name="Text 28">
              <a:extLst>
                <a:ext uri="{FF2B5EF4-FFF2-40B4-BE49-F238E27FC236}">
                  <a16:creationId xmlns:a16="http://schemas.microsoft.com/office/drawing/2014/main" id="{9DAA872D-DEB2-74E7-6606-458C5CFA1A63}"/>
                </a:ext>
              </a:extLst>
            </p:cNvPr>
            <p:cNvSpPr/>
            <p:nvPr/>
          </p:nvSpPr>
          <p:spPr>
            <a:xfrm>
              <a:off x="3718486" y="2522200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hu-HU" sz="950" dirty="0" err="1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MySQL</a:t>
              </a:r>
              <a:r>
                <a:rPr lang="hu-HU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hu-HU" sz="950" dirty="0" err="1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database</a:t>
              </a:r>
              <a:endParaRPr lang="en-US" sz="950" dirty="0"/>
            </a:p>
          </p:txBody>
        </p:sp>
        <p:sp>
          <p:nvSpPr>
            <p:cNvPr id="81" name="Text 30">
              <a:extLst>
                <a:ext uri="{FF2B5EF4-FFF2-40B4-BE49-F238E27FC236}">
                  <a16:creationId xmlns:a16="http://schemas.microsoft.com/office/drawing/2014/main" id="{F5D95F20-CB5F-4EDF-F2A1-F7193AD4062A}"/>
                </a:ext>
              </a:extLst>
            </p:cNvPr>
            <p:cNvSpPr/>
            <p:nvPr/>
          </p:nvSpPr>
          <p:spPr>
            <a:xfrm>
              <a:off x="3718486" y="2878816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hu-HU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76 </a:t>
              </a:r>
              <a:r>
                <a:rPr lang="hu-HU" sz="950" dirty="0" err="1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stored</a:t>
              </a:r>
              <a:r>
                <a:rPr lang="hu-HU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hu-HU" sz="950" dirty="0" err="1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pocedures</a:t>
              </a:r>
              <a:r>
                <a:rPr lang="hu-HU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(CRUD)</a:t>
              </a:r>
              <a:endParaRPr lang="en-US" sz="950" dirty="0"/>
            </a:p>
          </p:txBody>
        </p:sp>
        <p:sp>
          <p:nvSpPr>
            <p:cNvPr id="82" name="Text 32">
              <a:extLst>
                <a:ext uri="{FF2B5EF4-FFF2-40B4-BE49-F238E27FC236}">
                  <a16:creationId xmlns:a16="http://schemas.microsoft.com/office/drawing/2014/main" id="{3694F714-AB01-1D84-62E1-00435EA017E2}"/>
                </a:ext>
              </a:extLst>
            </p:cNvPr>
            <p:cNvSpPr/>
            <p:nvPr/>
          </p:nvSpPr>
          <p:spPr>
            <a:xfrm>
              <a:off x="3718486" y="3235432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hu-HU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 </a:t>
              </a:r>
              <a:r>
                <a:rPr lang="hu-HU" sz="950" dirty="0" err="1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tables</a:t>
              </a:r>
              <a:endParaRPr lang="en-US" sz="950" dirty="0"/>
            </a:p>
          </p:txBody>
        </p:sp>
        <p:sp>
          <p:nvSpPr>
            <p:cNvPr id="83" name="Text 36">
              <a:extLst>
                <a:ext uri="{FF2B5EF4-FFF2-40B4-BE49-F238E27FC236}">
                  <a16:creationId xmlns:a16="http://schemas.microsoft.com/office/drawing/2014/main" id="{38AF764E-8A67-D7EE-D26F-90A96F1EABA9}"/>
                </a:ext>
              </a:extLst>
            </p:cNvPr>
            <p:cNvSpPr/>
            <p:nvPr/>
          </p:nvSpPr>
          <p:spPr>
            <a:xfrm>
              <a:off x="3718486" y="3948664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hu-HU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Testing </a:t>
              </a:r>
              <a:r>
                <a:rPr lang="hu-HU" sz="950" dirty="0" err="1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documentation</a:t>
              </a:r>
              <a:endParaRPr lang="en-US" sz="950" dirty="0"/>
            </a:p>
          </p:txBody>
        </p:sp>
        <p:sp>
          <p:nvSpPr>
            <p:cNvPr id="84" name="Text 36">
              <a:extLst>
                <a:ext uri="{FF2B5EF4-FFF2-40B4-BE49-F238E27FC236}">
                  <a16:creationId xmlns:a16="http://schemas.microsoft.com/office/drawing/2014/main" id="{50441494-4152-CF3B-97DF-B452F3E2BA18}"/>
                </a:ext>
              </a:extLst>
            </p:cNvPr>
            <p:cNvSpPr/>
            <p:nvPr/>
          </p:nvSpPr>
          <p:spPr>
            <a:xfrm>
              <a:off x="3718486" y="3559458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hu-HU" sz="950" dirty="0" err="1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Foreign</a:t>
              </a:r>
              <a:r>
                <a:rPr lang="hu-HU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hu-HU" sz="950" dirty="0" err="1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</a:t>
              </a:r>
              <a:r>
                <a:rPr lang="hu-HU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hu-HU" sz="950" dirty="0" err="1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relationships</a:t>
              </a:r>
              <a:endParaRPr lang="en-US" sz="950" dirty="0"/>
            </a:p>
          </p:txBody>
        </p:sp>
      </p:grpSp>
      <p:cxnSp>
        <p:nvCxnSpPr>
          <p:cNvPr id="97" name="Egyenes összekötő 96">
            <a:extLst>
              <a:ext uri="{FF2B5EF4-FFF2-40B4-BE49-F238E27FC236}">
                <a16:creationId xmlns:a16="http://schemas.microsoft.com/office/drawing/2014/main" id="{188652FB-172C-CF97-8EF4-1F1793F13264}"/>
              </a:ext>
            </a:extLst>
          </p:cNvPr>
          <p:cNvCxnSpPr>
            <a:cxnSpLocks/>
          </p:cNvCxnSpPr>
          <p:nvPr/>
        </p:nvCxnSpPr>
        <p:spPr>
          <a:xfrm>
            <a:off x="6602441" y="2673330"/>
            <a:ext cx="0" cy="142646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Csoportba foglalás 91">
            <a:extLst>
              <a:ext uri="{FF2B5EF4-FFF2-40B4-BE49-F238E27FC236}">
                <a16:creationId xmlns:a16="http://schemas.microsoft.com/office/drawing/2014/main" id="{90ED1822-FD03-17E0-86DB-4FA2CA0335A6}"/>
              </a:ext>
            </a:extLst>
          </p:cNvPr>
          <p:cNvGrpSpPr/>
          <p:nvPr/>
        </p:nvGrpSpPr>
        <p:grpSpPr>
          <a:xfrm>
            <a:off x="6566296" y="2522200"/>
            <a:ext cx="2267712" cy="1746504"/>
            <a:chOff x="6733349" y="2522200"/>
            <a:chExt cx="2267712" cy="1746504"/>
          </a:xfrm>
        </p:grpSpPr>
        <p:sp>
          <p:nvSpPr>
            <p:cNvPr id="86" name="Text 44">
              <a:extLst>
                <a:ext uri="{FF2B5EF4-FFF2-40B4-BE49-F238E27FC236}">
                  <a16:creationId xmlns:a16="http://schemas.microsoft.com/office/drawing/2014/main" id="{C4CF7463-7C62-672C-B597-34E701F1C2CC}"/>
                </a:ext>
              </a:extLst>
            </p:cNvPr>
            <p:cNvSpPr/>
            <p:nvPr/>
          </p:nvSpPr>
          <p:spPr>
            <a:xfrm>
              <a:off x="6733349" y="2522200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en-US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HTML/CSS/JS development</a:t>
              </a:r>
              <a:endParaRPr lang="en-US" sz="950" dirty="0"/>
            </a:p>
          </p:txBody>
        </p:sp>
        <p:sp>
          <p:nvSpPr>
            <p:cNvPr id="87" name="Text 46">
              <a:extLst>
                <a:ext uri="{FF2B5EF4-FFF2-40B4-BE49-F238E27FC236}">
                  <a16:creationId xmlns:a16="http://schemas.microsoft.com/office/drawing/2014/main" id="{C58A68A9-9C55-8B60-E219-BF26A41F69B4}"/>
                </a:ext>
              </a:extLst>
            </p:cNvPr>
            <p:cNvSpPr/>
            <p:nvPr/>
          </p:nvSpPr>
          <p:spPr>
            <a:xfrm>
              <a:off x="6733349" y="2878816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en-US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Bootstrap 5 responsive design</a:t>
              </a:r>
              <a:endParaRPr lang="en-US" sz="950" dirty="0"/>
            </a:p>
          </p:txBody>
        </p:sp>
        <p:sp>
          <p:nvSpPr>
            <p:cNvPr id="88" name="Text 48">
              <a:extLst>
                <a:ext uri="{FF2B5EF4-FFF2-40B4-BE49-F238E27FC236}">
                  <a16:creationId xmlns:a16="http://schemas.microsoft.com/office/drawing/2014/main" id="{D91ED165-0BCC-831F-DD32-20B875C1E912}"/>
                </a:ext>
              </a:extLst>
            </p:cNvPr>
            <p:cNvSpPr/>
            <p:nvPr/>
          </p:nvSpPr>
          <p:spPr>
            <a:xfrm>
              <a:off x="6733349" y="3235432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en-US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 integration (fetch calls)</a:t>
              </a:r>
              <a:endParaRPr lang="en-US" sz="950" dirty="0"/>
            </a:p>
          </p:txBody>
        </p:sp>
        <p:sp>
          <p:nvSpPr>
            <p:cNvPr id="89" name="Text 50">
              <a:extLst>
                <a:ext uri="{FF2B5EF4-FFF2-40B4-BE49-F238E27FC236}">
                  <a16:creationId xmlns:a16="http://schemas.microsoft.com/office/drawing/2014/main" id="{FB0DC2E5-3168-BF8F-8105-857E33EF5C38}"/>
                </a:ext>
              </a:extLst>
            </p:cNvPr>
            <p:cNvSpPr/>
            <p:nvPr/>
          </p:nvSpPr>
          <p:spPr>
            <a:xfrm>
              <a:off x="6733349" y="3592048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hu-HU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Pixel </a:t>
              </a:r>
              <a:r>
                <a:rPr lang="hu-HU" sz="950" dirty="0" err="1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perfect</a:t>
              </a:r>
              <a:endParaRPr lang="en-US" sz="950" dirty="0"/>
            </a:p>
          </p:txBody>
        </p:sp>
        <p:sp>
          <p:nvSpPr>
            <p:cNvPr id="90" name="Text 52">
              <a:extLst>
                <a:ext uri="{FF2B5EF4-FFF2-40B4-BE49-F238E27FC236}">
                  <a16:creationId xmlns:a16="http://schemas.microsoft.com/office/drawing/2014/main" id="{F9428634-A741-0A84-3594-888C6C9AD2BD}"/>
                </a:ext>
              </a:extLst>
            </p:cNvPr>
            <p:cNvSpPr/>
            <p:nvPr/>
          </p:nvSpPr>
          <p:spPr>
            <a:xfrm>
              <a:off x="6733349" y="3948664"/>
              <a:ext cx="226771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Clr>
                  <a:srgbClr val="D4A528"/>
                </a:buClr>
                <a:buSzPct val="175000"/>
                <a:buFont typeface="Arial" panose="020B0604020202020204" pitchFamily="34" charset="0"/>
                <a:buChar char="•"/>
              </a:pPr>
              <a:r>
                <a:rPr lang="en-US" sz="95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Page implementation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">
            <a:extLst>
              <a:ext uri="{FF2B5EF4-FFF2-40B4-BE49-F238E27FC236}">
                <a16:creationId xmlns:a16="http://schemas.microsoft.com/office/drawing/2014/main" id="{A1C8E321-D594-5FA8-08BD-CB9E285043CF}"/>
              </a:ext>
            </a:extLst>
          </p:cNvPr>
          <p:cNvSpPr/>
          <p:nvPr/>
        </p:nvSpPr>
        <p:spPr>
          <a:xfrm>
            <a:off x="6494778" y="1805940"/>
            <a:ext cx="2090421" cy="914400"/>
          </a:xfrm>
          <a:prstGeom prst="roundRect">
            <a:avLst/>
          </a:prstGeom>
          <a:solidFill>
            <a:srgbClr val="2E2E2E"/>
          </a:solidFill>
          <a:ln w="38100" cap="flat">
            <a:solidFill>
              <a:srgbClr val="D4A528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2090421"/>
                      <a:gd name="csY0" fmla="*/ 152403 h 914400"/>
                      <a:gd name="csX1" fmla="*/ 152403 w 2090421"/>
                      <a:gd name="csY1" fmla="*/ 0 h 914400"/>
                      <a:gd name="csX2" fmla="*/ 765464 w 2090421"/>
                      <a:gd name="csY2" fmla="*/ 0 h 914400"/>
                      <a:gd name="csX3" fmla="*/ 1360669 w 2090421"/>
                      <a:gd name="csY3" fmla="*/ 0 h 914400"/>
                      <a:gd name="csX4" fmla="*/ 1938018 w 2090421"/>
                      <a:gd name="csY4" fmla="*/ 0 h 914400"/>
                      <a:gd name="csX5" fmla="*/ 2090421 w 2090421"/>
                      <a:gd name="csY5" fmla="*/ 152403 h 914400"/>
                      <a:gd name="csX6" fmla="*/ 2090421 w 2090421"/>
                      <a:gd name="csY6" fmla="*/ 761997 h 914400"/>
                      <a:gd name="csX7" fmla="*/ 1938018 w 2090421"/>
                      <a:gd name="csY7" fmla="*/ 914400 h 914400"/>
                      <a:gd name="csX8" fmla="*/ 1324957 w 2090421"/>
                      <a:gd name="csY8" fmla="*/ 914400 h 914400"/>
                      <a:gd name="csX9" fmla="*/ 783320 w 2090421"/>
                      <a:gd name="csY9" fmla="*/ 914400 h 914400"/>
                      <a:gd name="csX10" fmla="*/ 152403 w 2090421"/>
                      <a:gd name="csY10" fmla="*/ 914400 h 914400"/>
                      <a:gd name="csX11" fmla="*/ 0 w 2090421"/>
                      <a:gd name="csY11" fmla="*/ 761997 h 914400"/>
                      <a:gd name="csX12" fmla="*/ 0 w 2090421"/>
                      <a:gd name="csY12" fmla="*/ 152403 h 9144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2090421" h="914400" fill="none" extrusionOk="0">
                        <a:moveTo>
                          <a:pt x="0" y="152403"/>
                        </a:moveTo>
                        <a:cubicBezTo>
                          <a:pt x="-19455" y="71428"/>
                          <a:pt x="51418" y="-11602"/>
                          <a:pt x="152403" y="0"/>
                        </a:cubicBezTo>
                        <a:cubicBezTo>
                          <a:pt x="286883" y="23249"/>
                          <a:pt x="590636" y="-19540"/>
                          <a:pt x="765464" y="0"/>
                        </a:cubicBezTo>
                        <a:cubicBezTo>
                          <a:pt x="940292" y="19540"/>
                          <a:pt x="1094361" y="20319"/>
                          <a:pt x="1360669" y="0"/>
                        </a:cubicBezTo>
                        <a:cubicBezTo>
                          <a:pt x="1626977" y="-20319"/>
                          <a:pt x="1812791" y="-8532"/>
                          <a:pt x="1938018" y="0"/>
                        </a:cubicBezTo>
                        <a:cubicBezTo>
                          <a:pt x="2005006" y="707"/>
                          <a:pt x="2096323" y="57593"/>
                          <a:pt x="2090421" y="152403"/>
                        </a:cubicBezTo>
                        <a:cubicBezTo>
                          <a:pt x="2060604" y="338984"/>
                          <a:pt x="2066554" y="487662"/>
                          <a:pt x="2090421" y="761997"/>
                        </a:cubicBezTo>
                        <a:cubicBezTo>
                          <a:pt x="2097326" y="859839"/>
                          <a:pt x="2017412" y="916918"/>
                          <a:pt x="1938018" y="914400"/>
                        </a:cubicBezTo>
                        <a:cubicBezTo>
                          <a:pt x="1652155" y="944952"/>
                          <a:pt x="1596629" y="939332"/>
                          <a:pt x="1324957" y="914400"/>
                        </a:cubicBezTo>
                        <a:cubicBezTo>
                          <a:pt x="1053285" y="889468"/>
                          <a:pt x="1050708" y="891458"/>
                          <a:pt x="783320" y="914400"/>
                        </a:cubicBezTo>
                        <a:cubicBezTo>
                          <a:pt x="515932" y="937342"/>
                          <a:pt x="376016" y="931908"/>
                          <a:pt x="152403" y="914400"/>
                        </a:cubicBezTo>
                        <a:cubicBezTo>
                          <a:pt x="78553" y="918012"/>
                          <a:pt x="4389" y="860949"/>
                          <a:pt x="0" y="761997"/>
                        </a:cubicBezTo>
                        <a:cubicBezTo>
                          <a:pt x="10877" y="523932"/>
                          <a:pt x="13925" y="361090"/>
                          <a:pt x="0" y="152403"/>
                        </a:cubicBezTo>
                        <a:close/>
                      </a:path>
                      <a:path w="2090421" h="914400" stroke="0" extrusionOk="0">
                        <a:moveTo>
                          <a:pt x="0" y="152403"/>
                        </a:moveTo>
                        <a:cubicBezTo>
                          <a:pt x="-16982" y="57758"/>
                          <a:pt x="62541" y="2136"/>
                          <a:pt x="152403" y="0"/>
                        </a:cubicBezTo>
                        <a:cubicBezTo>
                          <a:pt x="436912" y="781"/>
                          <a:pt x="576947" y="852"/>
                          <a:pt x="783320" y="0"/>
                        </a:cubicBezTo>
                        <a:cubicBezTo>
                          <a:pt x="989693" y="-852"/>
                          <a:pt x="1200695" y="-18965"/>
                          <a:pt x="1360669" y="0"/>
                        </a:cubicBezTo>
                        <a:cubicBezTo>
                          <a:pt x="1520643" y="18965"/>
                          <a:pt x="1773609" y="6461"/>
                          <a:pt x="1938018" y="0"/>
                        </a:cubicBezTo>
                        <a:cubicBezTo>
                          <a:pt x="2017103" y="-16377"/>
                          <a:pt x="2091002" y="66084"/>
                          <a:pt x="2090421" y="152403"/>
                        </a:cubicBezTo>
                        <a:cubicBezTo>
                          <a:pt x="2090098" y="290573"/>
                          <a:pt x="2085949" y="533710"/>
                          <a:pt x="2090421" y="761997"/>
                        </a:cubicBezTo>
                        <a:cubicBezTo>
                          <a:pt x="2089473" y="837129"/>
                          <a:pt x="2016489" y="922321"/>
                          <a:pt x="1938018" y="914400"/>
                        </a:cubicBezTo>
                        <a:cubicBezTo>
                          <a:pt x="1743149" y="914613"/>
                          <a:pt x="1596026" y="919035"/>
                          <a:pt x="1378525" y="914400"/>
                        </a:cubicBezTo>
                        <a:cubicBezTo>
                          <a:pt x="1161024" y="909765"/>
                          <a:pt x="1061211" y="887980"/>
                          <a:pt x="783320" y="914400"/>
                        </a:cubicBezTo>
                        <a:cubicBezTo>
                          <a:pt x="505429" y="940820"/>
                          <a:pt x="451133" y="928225"/>
                          <a:pt x="152403" y="914400"/>
                        </a:cubicBezTo>
                        <a:cubicBezTo>
                          <a:pt x="76223" y="906505"/>
                          <a:pt x="3753" y="843747"/>
                          <a:pt x="0" y="761997"/>
                        </a:cubicBezTo>
                        <a:cubicBezTo>
                          <a:pt x="-2565" y="533545"/>
                          <a:pt x="29747" y="398115"/>
                          <a:pt x="0" y="15240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  <a:softEdge rad="0"/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7DA3B36A-A3A8-D1C8-643B-4368FA5853A5}"/>
              </a:ext>
            </a:extLst>
          </p:cNvPr>
          <p:cNvSpPr/>
          <p:nvPr/>
        </p:nvSpPr>
        <p:spPr>
          <a:xfrm>
            <a:off x="6494190" y="2880360"/>
            <a:ext cx="2090421" cy="914400"/>
          </a:xfrm>
          <a:prstGeom prst="roundRect">
            <a:avLst/>
          </a:prstGeom>
          <a:solidFill>
            <a:srgbClr val="2E2E2E"/>
          </a:solidFill>
          <a:ln w="38100" cap="flat">
            <a:solidFill>
              <a:srgbClr val="D4A528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2090421"/>
                      <a:gd name="csY0" fmla="*/ 152403 h 914400"/>
                      <a:gd name="csX1" fmla="*/ 152403 w 2090421"/>
                      <a:gd name="csY1" fmla="*/ 0 h 914400"/>
                      <a:gd name="csX2" fmla="*/ 765464 w 2090421"/>
                      <a:gd name="csY2" fmla="*/ 0 h 914400"/>
                      <a:gd name="csX3" fmla="*/ 1360669 w 2090421"/>
                      <a:gd name="csY3" fmla="*/ 0 h 914400"/>
                      <a:gd name="csX4" fmla="*/ 1938018 w 2090421"/>
                      <a:gd name="csY4" fmla="*/ 0 h 914400"/>
                      <a:gd name="csX5" fmla="*/ 2090421 w 2090421"/>
                      <a:gd name="csY5" fmla="*/ 152403 h 914400"/>
                      <a:gd name="csX6" fmla="*/ 2090421 w 2090421"/>
                      <a:gd name="csY6" fmla="*/ 761997 h 914400"/>
                      <a:gd name="csX7" fmla="*/ 1938018 w 2090421"/>
                      <a:gd name="csY7" fmla="*/ 914400 h 914400"/>
                      <a:gd name="csX8" fmla="*/ 1324957 w 2090421"/>
                      <a:gd name="csY8" fmla="*/ 914400 h 914400"/>
                      <a:gd name="csX9" fmla="*/ 783320 w 2090421"/>
                      <a:gd name="csY9" fmla="*/ 914400 h 914400"/>
                      <a:gd name="csX10" fmla="*/ 152403 w 2090421"/>
                      <a:gd name="csY10" fmla="*/ 914400 h 914400"/>
                      <a:gd name="csX11" fmla="*/ 0 w 2090421"/>
                      <a:gd name="csY11" fmla="*/ 761997 h 914400"/>
                      <a:gd name="csX12" fmla="*/ 0 w 2090421"/>
                      <a:gd name="csY12" fmla="*/ 152403 h 9144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2090421" h="914400" fill="none" extrusionOk="0">
                        <a:moveTo>
                          <a:pt x="0" y="152403"/>
                        </a:moveTo>
                        <a:cubicBezTo>
                          <a:pt x="-19455" y="71428"/>
                          <a:pt x="51418" y="-11602"/>
                          <a:pt x="152403" y="0"/>
                        </a:cubicBezTo>
                        <a:cubicBezTo>
                          <a:pt x="286883" y="23249"/>
                          <a:pt x="590636" y="-19540"/>
                          <a:pt x="765464" y="0"/>
                        </a:cubicBezTo>
                        <a:cubicBezTo>
                          <a:pt x="940292" y="19540"/>
                          <a:pt x="1094361" y="20319"/>
                          <a:pt x="1360669" y="0"/>
                        </a:cubicBezTo>
                        <a:cubicBezTo>
                          <a:pt x="1626977" y="-20319"/>
                          <a:pt x="1812791" y="-8532"/>
                          <a:pt x="1938018" y="0"/>
                        </a:cubicBezTo>
                        <a:cubicBezTo>
                          <a:pt x="2005006" y="707"/>
                          <a:pt x="2096323" y="57593"/>
                          <a:pt x="2090421" y="152403"/>
                        </a:cubicBezTo>
                        <a:cubicBezTo>
                          <a:pt x="2060604" y="338984"/>
                          <a:pt x="2066554" y="487662"/>
                          <a:pt x="2090421" y="761997"/>
                        </a:cubicBezTo>
                        <a:cubicBezTo>
                          <a:pt x="2097326" y="859839"/>
                          <a:pt x="2017412" y="916918"/>
                          <a:pt x="1938018" y="914400"/>
                        </a:cubicBezTo>
                        <a:cubicBezTo>
                          <a:pt x="1652155" y="944952"/>
                          <a:pt x="1596629" y="939332"/>
                          <a:pt x="1324957" y="914400"/>
                        </a:cubicBezTo>
                        <a:cubicBezTo>
                          <a:pt x="1053285" y="889468"/>
                          <a:pt x="1050708" y="891458"/>
                          <a:pt x="783320" y="914400"/>
                        </a:cubicBezTo>
                        <a:cubicBezTo>
                          <a:pt x="515932" y="937342"/>
                          <a:pt x="376016" y="931908"/>
                          <a:pt x="152403" y="914400"/>
                        </a:cubicBezTo>
                        <a:cubicBezTo>
                          <a:pt x="78553" y="918012"/>
                          <a:pt x="4389" y="860949"/>
                          <a:pt x="0" y="761997"/>
                        </a:cubicBezTo>
                        <a:cubicBezTo>
                          <a:pt x="10877" y="523932"/>
                          <a:pt x="13925" y="361090"/>
                          <a:pt x="0" y="152403"/>
                        </a:cubicBezTo>
                        <a:close/>
                      </a:path>
                      <a:path w="2090421" h="914400" stroke="0" extrusionOk="0">
                        <a:moveTo>
                          <a:pt x="0" y="152403"/>
                        </a:moveTo>
                        <a:cubicBezTo>
                          <a:pt x="-16982" y="57758"/>
                          <a:pt x="62541" y="2136"/>
                          <a:pt x="152403" y="0"/>
                        </a:cubicBezTo>
                        <a:cubicBezTo>
                          <a:pt x="436912" y="781"/>
                          <a:pt x="576947" y="852"/>
                          <a:pt x="783320" y="0"/>
                        </a:cubicBezTo>
                        <a:cubicBezTo>
                          <a:pt x="989693" y="-852"/>
                          <a:pt x="1200695" y="-18965"/>
                          <a:pt x="1360669" y="0"/>
                        </a:cubicBezTo>
                        <a:cubicBezTo>
                          <a:pt x="1520643" y="18965"/>
                          <a:pt x="1773609" y="6461"/>
                          <a:pt x="1938018" y="0"/>
                        </a:cubicBezTo>
                        <a:cubicBezTo>
                          <a:pt x="2017103" y="-16377"/>
                          <a:pt x="2091002" y="66084"/>
                          <a:pt x="2090421" y="152403"/>
                        </a:cubicBezTo>
                        <a:cubicBezTo>
                          <a:pt x="2090098" y="290573"/>
                          <a:pt x="2085949" y="533710"/>
                          <a:pt x="2090421" y="761997"/>
                        </a:cubicBezTo>
                        <a:cubicBezTo>
                          <a:pt x="2089473" y="837129"/>
                          <a:pt x="2016489" y="922321"/>
                          <a:pt x="1938018" y="914400"/>
                        </a:cubicBezTo>
                        <a:cubicBezTo>
                          <a:pt x="1743149" y="914613"/>
                          <a:pt x="1596026" y="919035"/>
                          <a:pt x="1378525" y="914400"/>
                        </a:cubicBezTo>
                        <a:cubicBezTo>
                          <a:pt x="1161024" y="909765"/>
                          <a:pt x="1061211" y="887980"/>
                          <a:pt x="783320" y="914400"/>
                        </a:cubicBezTo>
                        <a:cubicBezTo>
                          <a:pt x="505429" y="940820"/>
                          <a:pt x="451133" y="928225"/>
                          <a:pt x="152403" y="914400"/>
                        </a:cubicBezTo>
                        <a:cubicBezTo>
                          <a:pt x="76223" y="906505"/>
                          <a:pt x="3753" y="843747"/>
                          <a:pt x="0" y="761997"/>
                        </a:cubicBezTo>
                        <a:cubicBezTo>
                          <a:pt x="-2565" y="533545"/>
                          <a:pt x="29747" y="398115"/>
                          <a:pt x="0" y="15240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  <a:softEdge rad="0"/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A1BAD4EE-D0DA-DCCD-86BD-00342618C0D4}"/>
              </a:ext>
            </a:extLst>
          </p:cNvPr>
          <p:cNvSpPr/>
          <p:nvPr/>
        </p:nvSpPr>
        <p:spPr>
          <a:xfrm>
            <a:off x="6494780" y="3974397"/>
            <a:ext cx="2090421" cy="914400"/>
          </a:xfrm>
          <a:prstGeom prst="roundRect">
            <a:avLst/>
          </a:prstGeom>
          <a:solidFill>
            <a:srgbClr val="2E2E2E"/>
          </a:solidFill>
          <a:ln w="38100" cap="flat">
            <a:solidFill>
              <a:srgbClr val="D4A528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2090421"/>
                      <a:gd name="csY0" fmla="*/ 152403 h 914400"/>
                      <a:gd name="csX1" fmla="*/ 152403 w 2090421"/>
                      <a:gd name="csY1" fmla="*/ 0 h 914400"/>
                      <a:gd name="csX2" fmla="*/ 765464 w 2090421"/>
                      <a:gd name="csY2" fmla="*/ 0 h 914400"/>
                      <a:gd name="csX3" fmla="*/ 1360669 w 2090421"/>
                      <a:gd name="csY3" fmla="*/ 0 h 914400"/>
                      <a:gd name="csX4" fmla="*/ 1938018 w 2090421"/>
                      <a:gd name="csY4" fmla="*/ 0 h 914400"/>
                      <a:gd name="csX5" fmla="*/ 2090421 w 2090421"/>
                      <a:gd name="csY5" fmla="*/ 152403 h 914400"/>
                      <a:gd name="csX6" fmla="*/ 2090421 w 2090421"/>
                      <a:gd name="csY6" fmla="*/ 761997 h 914400"/>
                      <a:gd name="csX7" fmla="*/ 1938018 w 2090421"/>
                      <a:gd name="csY7" fmla="*/ 914400 h 914400"/>
                      <a:gd name="csX8" fmla="*/ 1324957 w 2090421"/>
                      <a:gd name="csY8" fmla="*/ 914400 h 914400"/>
                      <a:gd name="csX9" fmla="*/ 783320 w 2090421"/>
                      <a:gd name="csY9" fmla="*/ 914400 h 914400"/>
                      <a:gd name="csX10" fmla="*/ 152403 w 2090421"/>
                      <a:gd name="csY10" fmla="*/ 914400 h 914400"/>
                      <a:gd name="csX11" fmla="*/ 0 w 2090421"/>
                      <a:gd name="csY11" fmla="*/ 761997 h 914400"/>
                      <a:gd name="csX12" fmla="*/ 0 w 2090421"/>
                      <a:gd name="csY12" fmla="*/ 152403 h 9144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2090421" h="914400" fill="none" extrusionOk="0">
                        <a:moveTo>
                          <a:pt x="0" y="152403"/>
                        </a:moveTo>
                        <a:cubicBezTo>
                          <a:pt x="-19455" y="71428"/>
                          <a:pt x="51418" y="-11602"/>
                          <a:pt x="152403" y="0"/>
                        </a:cubicBezTo>
                        <a:cubicBezTo>
                          <a:pt x="286883" y="23249"/>
                          <a:pt x="590636" y="-19540"/>
                          <a:pt x="765464" y="0"/>
                        </a:cubicBezTo>
                        <a:cubicBezTo>
                          <a:pt x="940292" y="19540"/>
                          <a:pt x="1094361" y="20319"/>
                          <a:pt x="1360669" y="0"/>
                        </a:cubicBezTo>
                        <a:cubicBezTo>
                          <a:pt x="1626977" y="-20319"/>
                          <a:pt x="1812791" y="-8532"/>
                          <a:pt x="1938018" y="0"/>
                        </a:cubicBezTo>
                        <a:cubicBezTo>
                          <a:pt x="2005006" y="707"/>
                          <a:pt x="2096323" y="57593"/>
                          <a:pt x="2090421" y="152403"/>
                        </a:cubicBezTo>
                        <a:cubicBezTo>
                          <a:pt x="2060604" y="338984"/>
                          <a:pt x="2066554" y="487662"/>
                          <a:pt x="2090421" y="761997"/>
                        </a:cubicBezTo>
                        <a:cubicBezTo>
                          <a:pt x="2097326" y="859839"/>
                          <a:pt x="2017412" y="916918"/>
                          <a:pt x="1938018" y="914400"/>
                        </a:cubicBezTo>
                        <a:cubicBezTo>
                          <a:pt x="1652155" y="944952"/>
                          <a:pt x="1596629" y="939332"/>
                          <a:pt x="1324957" y="914400"/>
                        </a:cubicBezTo>
                        <a:cubicBezTo>
                          <a:pt x="1053285" y="889468"/>
                          <a:pt x="1050708" y="891458"/>
                          <a:pt x="783320" y="914400"/>
                        </a:cubicBezTo>
                        <a:cubicBezTo>
                          <a:pt x="515932" y="937342"/>
                          <a:pt x="376016" y="931908"/>
                          <a:pt x="152403" y="914400"/>
                        </a:cubicBezTo>
                        <a:cubicBezTo>
                          <a:pt x="78553" y="918012"/>
                          <a:pt x="4389" y="860949"/>
                          <a:pt x="0" y="761997"/>
                        </a:cubicBezTo>
                        <a:cubicBezTo>
                          <a:pt x="10877" y="523932"/>
                          <a:pt x="13925" y="361090"/>
                          <a:pt x="0" y="152403"/>
                        </a:cubicBezTo>
                        <a:close/>
                      </a:path>
                      <a:path w="2090421" h="914400" stroke="0" extrusionOk="0">
                        <a:moveTo>
                          <a:pt x="0" y="152403"/>
                        </a:moveTo>
                        <a:cubicBezTo>
                          <a:pt x="-16982" y="57758"/>
                          <a:pt x="62541" y="2136"/>
                          <a:pt x="152403" y="0"/>
                        </a:cubicBezTo>
                        <a:cubicBezTo>
                          <a:pt x="436912" y="781"/>
                          <a:pt x="576947" y="852"/>
                          <a:pt x="783320" y="0"/>
                        </a:cubicBezTo>
                        <a:cubicBezTo>
                          <a:pt x="989693" y="-852"/>
                          <a:pt x="1200695" y="-18965"/>
                          <a:pt x="1360669" y="0"/>
                        </a:cubicBezTo>
                        <a:cubicBezTo>
                          <a:pt x="1520643" y="18965"/>
                          <a:pt x="1773609" y="6461"/>
                          <a:pt x="1938018" y="0"/>
                        </a:cubicBezTo>
                        <a:cubicBezTo>
                          <a:pt x="2017103" y="-16377"/>
                          <a:pt x="2091002" y="66084"/>
                          <a:pt x="2090421" y="152403"/>
                        </a:cubicBezTo>
                        <a:cubicBezTo>
                          <a:pt x="2090098" y="290573"/>
                          <a:pt x="2085949" y="533710"/>
                          <a:pt x="2090421" y="761997"/>
                        </a:cubicBezTo>
                        <a:cubicBezTo>
                          <a:pt x="2089473" y="837129"/>
                          <a:pt x="2016489" y="922321"/>
                          <a:pt x="1938018" y="914400"/>
                        </a:cubicBezTo>
                        <a:cubicBezTo>
                          <a:pt x="1743149" y="914613"/>
                          <a:pt x="1596026" y="919035"/>
                          <a:pt x="1378525" y="914400"/>
                        </a:cubicBezTo>
                        <a:cubicBezTo>
                          <a:pt x="1161024" y="909765"/>
                          <a:pt x="1061211" y="887980"/>
                          <a:pt x="783320" y="914400"/>
                        </a:cubicBezTo>
                        <a:cubicBezTo>
                          <a:pt x="505429" y="940820"/>
                          <a:pt x="451133" y="928225"/>
                          <a:pt x="152403" y="914400"/>
                        </a:cubicBezTo>
                        <a:cubicBezTo>
                          <a:pt x="76223" y="906505"/>
                          <a:pt x="3753" y="843747"/>
                          <a:pt x="0" y="761997"/>
                        </a:cubicBezTo>
                        <a:cubicBezTo>
                          <a:pt x="-2565" y="533545"/>
                          <a:pt x="29747" y="398115"/>
                          <a:pt x="0" y="15240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  <a:softEdge rad="0"/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B9198A56-9CBF-B3EC-0AF9-BF8B51A8CD2A}"/>
              </a:ext>
            </a:extLst>
          </p:cNvPr>
          <p:cNvSpPr/>
          <p:nvPr/>
        </p:nvSpPr>
        <p:spPr>
          <a:xfrm>
            <a:off x="6494780" y="731520"/>
            <a:ext cx="2090421" cy="914400"/>
          </a:xfrm>
          <a:prstGeom prst="roundRect">
            <a:avLst/>
          </a:prstGeom>
          <a:solidFill>
            <a:srgbClr val="2E2E2E"/>
          </a:solidFill>
          <a:ln w="38100" cap="flat">
            <a:solidFill>
              <a:srgbClr val="D4A528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2090421"/>
                      <a:gd name="csY0" fmla="*/ 152403 h 914400"/>
                      <a:gd name="csX1" fmla="*/ 152403 w 2090421"/>
                      <a:gd name="csY1" fmla="*/ 0 h 914400"/>
                      <a:gd name="csX2" fmla="*/ 765464 w 2090421"/>
                      <a:gd name="csY2" fmla="*/ 0 h 914400"/>
                      <a:gd name="csX3" fmla="*/ 1360669 w 2090421"/>
                      <a:gd name="csY3" fmla="*/ 0 h 914400"/>
                      <a:gd name="csX4" fmla="*/ 1938018 w 2090421"/>
                      <a:gd name="csY4" fmla="*/ 0 h 914400"/>
                      <a:gd name="csX5" fmla="*/ 2090421 w 2090421"/>
                      <a:gd name="csY5" fmla="*/ 152403 h 914400"/>
                      <a:gd name="csX6" fmla="*/ 2090421 w 2090421"/>
                      <a:gd name="csY6" fmla="*/ 761997 h 914400"/>
                      <a:gd name="csX7" fmla="*/ 1938018 w 2090421"/>
                      <a:gd name="csY7" fmla="*/ 914400 h 914400"/>
                      <a:gd name="csX8" fmla="*/ 1324957 w 2090421"/>
                      <a:gd name="csY8" fmla="*/ 914400 h 914400"/>
                      <a:gd name="csX9" fmla="*/ 783320 w 2090421"/>
                      <a:gd name="csY9" fmla="*/ 914400 h 914400"/>
                      <a:gd name="csX10" fmla="*/ 152403 w 2090421"/>
                      <a:gd name="csY10" fmla="*/ 914400 h 914400"/>
                      <a:gd name="csX11" fmla="*/ 0 w 2090421"/>
                      <a:gd name="csY11" fmla="*/ 761997 h 914400"/>
                      <a:gd name="csX12" fmla="*/ 0 w 2090421"/>
                      <a:gd name="csY12" fmla="*/ 152403 h 9144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2090421" h="914400" fill="none" extrusionOk="0">
                        <a:moveTo>
                          <a:pt x="0" y="152403"/>
                        </a:moveTo>
                        <a:cubicBezTo>
                          <a:pt x="-19455" y="71428"/>
                          <a:pt x="51418" y="-11602"/>
                          <a:pt x="152403" y="0"/>
                        </a:cubicBezTo>
                        <a:cubicBezTo>
                          <a:pt x="286883" y="23249"/>
                          <a:pt x="590636" y="-19540"/>
                          <a:pt x="765464" y="0"/>
                        </a:cubicBezTo>
                        <a:cubicBezTo>
                          <a:pt x="940292" y="19540"/>
                          <a:pt x="1094361" y="20319"/>
                          <a:pt x="1360669" y="0"/>
                        </a:cubicBezTo>
                        <a:cubicBezTo>
                          <a:pt x="1626977" y="-20319"/>
                          <a:pt x="1812791" y="-8532"/>
                          <a:pt x="1938018" y="0"/>
                        </a:cubicBezTo>
                        <a:cubicBezTo>
                          <a:pt x="2005006" y="707"/>
                          <a:pt x="2096323" y="57593"/>
                          <a:pt x="2090421" y="152403"/>
                        </a:cubicBezTo>
                        <a:cubicBezTo>
                          <a:pt x="2060604" y="338984"/>
                          <a:pt x="2066554" y="487662"/>
                          <a:pt x="2090421" y="761997"/>
                        </a:cubicBezTo>
                        <a:cubicBezTo>
                          <a:pt x="2097326" y="859839"/>
                          <a:pt x="2017412" y="916918"/>
                          <a:pt x="1938018" y="914400"/>
                        </a:cubicBezTo>
                        <a:cubicBezTo>
                          <a:pt x="1652155" y="944952"/>
                          <a:pt x="1596629" y="939332"/>
                          <a:pt x="1324957" y="914400"/>
                        </a:cubicBezTo>
                        <a:cubicBezTo>
                          <a:pt x="1053285" y="889468"/>
                          <a:pt x="1050708" y="891458"/>
                          <a:pt x="783320" y="914400"/>
                        </a:cubicBezTo>
                        <a:cubicBezTo>
                          <a:pt x="515932" y="937342"/>
                          <a:pt x="376016" y="931908"/>
                          <a:pt x="152403" y="914400"/>
                        </a:cubicBezTo>
                        <a:cubicBezTo>
                          <a:pt x="78553" y="918012"/>
                          <a:pt x="4389" y="860949"/>
                          <a:pt x="0" y="761997"/>
                        </a:cubicBezTo>
                        <a:cubicBezTo>
                          <a:pt x="10877" y="523932"/>
                          <a:pt x="13925" y="361090"/>
                          <a:pt x="0" y="152403"/>
                        </a:cubicBezTo>
                        <a:close/>
                      </a:path>
                      <a:path w="2090421" h="914400" stroke="0" extrusionOk="0">
                        <a:moveTo>
                          <a:pt x="0" y="152403"/>
                        </a:moveTo>
                        <a:cubicBezTo>
                          <a:pt x="-16982" y="57758"/>
                          <a:pt x="62541" y="2136"/>
                          <a:pt x="152403" y="0"/>
                        </a:cubicBezTo>
                        <a:cubicBezTo>
                          <a:pt x="436912" y="781"/>
                          <a:pt x="576947" y="852"/>
                          <a:pt x="783320" y="0"/>
                        </a:cubicBezTo>
                        <a:cubicBezTo>
                          <a:pt x="989693" y="-852"/>
                          <a:pt x="1200695" y="-18965"/>
                          <a:pt x="1360669" y="0"/>
                        </a:cubicBezTo>
                        <a:cubicBezTo>
                          <a:pt x="1520643" y="18965"/>
                          <a:pt x="1773609" y="6461"/>
                          <a:pt x="1938018" y="0"/>
                        </a:cubicBezTo>
                        <a:cubicBezTo>
                          <a:pt x="2017103" y="-16377"/>
                          <a:pt x="2091002" y="66084"/>
                          <a:pt x="2090421" y="152403"/>
                        </a:cubicBezTo>
                        <a:cubicBezTo>
                          <a:pt x="2090098" y="290573"/>
                          <a:pt x="2085949" y="533710"/>
                          <a:pt x="2090421" y="761997"/>
                        </a:cubicBezTo>
                        <a:cubicBezTo>
                          <a:pt x="2089473" y="837129"/>
                          <a:pt x="2016489" y="922321"/>
                          <a:pt x="1938018" y="914400"/>
                        </a:cubicBezTo>
                        <a:cubicBezTo>
                          <a:pt x="1743149" y="914613"/>
                          <a:pt x="1596026" y="919035"/>
                          <a:pt x="1378525" y="914400"/>
                        </a:cubicBezTo>
                        <a:cubicBezTo>
                          <a:pt x="1161024" y="909765"/>
                          <a:pt x="1061211" y="887980"/>
                          <a:pt x="783320" y="914400"/>
                        </a:cubicBezTo>
                        <a:cubicBezTo>
                          <a:pt x="505429" y="940820"/>
                          <a:pt x="451133" y="928225"/>
                          <a:pt x="152403" y="914400"/>
                        </a:cubicBezTo>
                        <a:cubicBezTo>
                          <a:pt x="76223" y="906505"/>
                          <a:pt x="3753" y="843747"/>
                          <a:pt x="0" y="761997"/>
                        </a:cubicBezTo>
                        <a:cubicBezTo>
                          <a:pt x="-2565" y="533545"/>
                          <a:pt x="29747" y="398115"/>
                          <a:pt x="0" y="15240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  <a:softEdge rad="0"/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23" name="Téglalap: lekerekített 22">
            <a:extLst>
              <a:ext uri="{FF2B5EF4-FFF2-40B4-BE49-F238E27FC236}">
                <a16:creationId xmlns:a16="http://schemas.microsoft.com/office/drawing/2014/main" id="{44AE932E-788E-92DC-A843-1ED1EB24F46B}"/>
              </a:ext>
            </a:extLst>
          </p:cNvPr>
          <p:cNvSpPr/>
          <p:nvPr/>
        </p:nvSpPr>
        <p:spPr>
          <a:xfrm>
            <a:off x="281940" y="1330960"/>
            <a:ext cx="5019040" cy="2833937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D4A5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KLSZ Faloda?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65960" y="1478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2160" y="1557528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customers with local restaurants in Pécs for browsing menus, placing orders, and tracking deliveries.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&amp; admins manage users, orders, and payments</a:t>
            </a:r>
          </a:p>
        </p:txBody>
      </p:sp>
      <p:sp>
        <p:nvSpPr>
          <p:cNvPr id="12" name="Text 10"/>
          <p:cNvSpPr/>
          <p:nvPr/>
        </p:nvSpPr>
        <p:spPr>
          <a:xfrm>
            <a:off x="6579870" y="8458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4000" b="1" dirty="0" err="1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40501" y="2993527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4000" b="1" dirty="0" err="1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9951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79280" y="1918716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4000" b="1" dirty="0" err="1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40501" y="4088697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40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08804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We Build This?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114800" cy="1508760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D4A528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95628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03020" y="1618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Market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4114800" cy="1508760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D4A528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01607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618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r>
              <a:rPr lang="hu-H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</a:t>
            </a:r>
            <a:r>
              <a:rPr lang="hu-HU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65760" y="2788920"/>
            <a:ext cx="4114800" cy="1508760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D4A528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375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03020" y="33969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Management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754880" y="2788920"/>
            <a:ext cx="4114800" cy="1508760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D4A528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333691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33969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950271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pic>
        <p:nvPicPr>
          <p:cNvPr id="73" name="Kép 72" descr="A képen kör, clipart, illusztráció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0564675-BC2B-428D-8E11-6B68FDCA7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954" y="1083105"/>
            <a:ext cx="1141200" cy="1141200"/>
          </a:xfrm>
          <a:prstGeom prst="rect">
            <a:avLst/>
          </a:prstGeom>
        </p:spPr>
      </p:pic>
      <p:pic>
        <p:nvPicPr>
          <p:cNvPr id="77" name="Kép 76" descr="A képen Grafika, embléma, szimbólum, Grafikus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8836F8B-B782-6F38-3EC6-F40C93072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72" y="3720105"/>
            <a:ext cx="1437912" cy="1141200"/>
          </a:xfrm>
          <a:prstGeom prst="rect">
            <a:avLst/>
          </a:prstGeom>
        </p:spPr>
      </p:pic>
      <p:pic>
        <p:nvPicPr>
          <p:cNvPr id="79" name="Kép 78" descr="A képen narancs, Grafika, piros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B76DB55-B367-FEC5-2F4A-41C1BE3C21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45" y="1081622"/>
            <a:ext cx="1142683" cy="1142683"/>
          </a:xfrm>
          <a:prstGeom prst="rect">
            <a:avLst/>
          </a:prstGeom>
        </p:spPr>
      </p:pic>
      <p:pic>
        <p:nvPicPr>
          <p:cNvPr id="83" name="Kép 82" descr="A képen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A820095-0DD7-4EDD-3C03-6FDA300945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6357" y="2497625"/>
            <a:ext cx="1141200" cy="1141200"/>
          </a:xfrm>
          <a:prstGeom prst="rect">
            <a:avLst/>
          </a:prstGeom>
        </p:spPr>
      </p:pic>
      <p:pic>
        <p:nvPicPr>
          <p:cNvPr id="85" name="Kép 84" descr="A képen Betűtípus, Grafika, sárga, szimbólu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062F006-F224-B972-B948-7138399387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554" y="2348596"/>
            <a:ext cx="1141200" cy="1141200"/>
          </a:xfrm>
          <a:prstGeom prst="rect">
            <a:avLst/>
          </a:prstGeom>
        </p:spPr>
      </p:pic>
      <p:pic>
        <p:nvPicPr>
          <p:cNvPr id="87" name="Kép 86" descr="A képen clipart, Grafika, szimbólum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0B49A16-D679-8E79-5F1A-A9EA2FCFAF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658" y="1081621"/>
            <a:ext cx="1142683" cy="1142683"/>
          </a:xfrm>
          <a:prstGeom prst="rect">
            <a:avLst/>
          </a:prstGeom>
        </p:spPr>
      </p:pic>
      <p:pic>
        <p:nvPicPr>
          <p:cNvPr id="89" name="Kép 88" descr="A képen Grafika, Betűtípus, embléma, Grafikus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B608020-AE37-78B7-FEE2-BCF8A3A2C3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2141" y="3720105"/>
            <a:ext cx="1141200" cy="1141200"/>
          </a:xfrm>
          <a:prstGeom prst="rect">
            <a:avLst/>
          </a:prstGeom>
        </p:spPr>
      </p:pic>
      <p:pic>
        <p:nvPicPr>
          <p:cNvPr id="91" name="Kép 90" descr="A képen Grafika, Grafikus tervezés, tervezés, illusztráció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3E0810CD-221E-2A3B-7958-A4256C3234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0658" y="2497625"/>
            <a:ext cx="1141200" cy="1141200"/>
          </a:xfrm>
          <a:prstGeom prst="rect">
            <a:avLst/>
          </a:prstGeom>
        </p:spPr>
      </p:pic>
      <p:pic>
        <p:nvPicPr>
          <p:cNvPr id="95" name="Kép 94" descr="A képen pillangó, fekete-fehé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41499E1-5E9F-75B1-5C76-373235A146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1767" y="3720105"/>
            <a:ext cx="2170380" cy="1141200"/>
          </a:xfrm>
          <a:prstGeom prst="rect">
            <a:avLst/>
          </a:prstGeom>
        </p:spPr>
      </p:pic>
      <p:pic>
        <p:nvPicPr>
          <p:cNvPr id="97" name="Kép 96" descr="A képen Grafika, képernyőkép, Acélkék, emblém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8487D86-0CC1-52EF-C2B4-01AAED16EF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3307" y="977968"/>
            <a:ext cx="1020262" cy="13621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</a:t>
            </a:r>
            <a:r>
              <a:rPr lang="hu-HU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</a:t>
            </a:r>
            <a:endParaRPr lang="en-US" sz="3000" dirty="0"/>
          </a:p>
        </p:txBody>
      </p:sp>
      <p:pic>
        <p:nvPicPr>
          <p:cNvPr id="25" name="Kép 24" descr="A képen szöveg, képernyőkép, multimédi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D618189-6E76-D836-55F6-F6C217B25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583" y="1257098"/>
            <a:ext cx="2116951" cy="3200908"/>
          </a:xfrm>
          <a:prstGeom prst="rect">
            <a:avLst/>
          </a:prstGeom>
        </p:spPr>
      </p:pic>
      <p:pic>
        <p:nvPicPr>
          <p:cNvPr id="28" name="Kép 27" descr="A képen szöveg, képernyőkép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71F1342-74AB-DEA8-10E5-25779D899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" y="1255776"/>
            <a:ext cx="2170107" cy="3200908"/>
          </a:xfrm>
          <a:prstGeom prst="rect">
            <a:avLst/>
          </a:prstGeom>
        </p:spPr>
      </p:pic>
      <p:pic>
        <p:nvPicPr>
          <p:cNvPr id="32" name="Kép 31" descr="A képen szöveg, elektronika, képernyőkép, multimédi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20D61C6-DD48-50DE-85A9-63EECC7DB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3641" y="1255776"/>
            <a:ext cx="1978495" cy="3202230"/>
          </a:xfrm>
          <a:prstGeom prst="rect">
            <a:avLst/>
          </a:prstGeom>
        </p:spPr>
      </p:pic>
      <p:pic>
        <p:nvPicPr>
          <p:cNvPr id="35" name="Kép 34" descr="A képen szöveg, képernyőkép, multimédi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CD017F4-95F1-F08C-6038-36417D0D9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590" y="1255776"/>
            <a:ext cx="2007539" cy="32009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5">
            <a:extLst>
              <a:ext uri="{FF2B5EF4-FFF2-40B4-BE49-F238E27FC236}">
                <a16:creationId xmlns:a16="http://schemas.microsoft.com/office/drawing/2014/main" id="{07BA3FB1-E692-EBE3-1B0D-FC9199DC6165}"/>
              </a:ext>
            </a:extLst>
          </p:cNvPr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2E2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Database Design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2E2E2E"/>
          </a:solidFill>
          <a:ln>
            <a:noFill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45720" cy="3474720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3703320" cy="566928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45720" cy="566928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 dirty="0">
              <a:solidFill>
                <a:srgbClr val="D4A528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15453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18105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REST Endpoints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221992"/>
            <a:ext cx="3703320" cy="566928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548640" y="2221992"/>
            <a:ext cx="45720" cy="566928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731520" y="2258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25237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@Stateless EJB · Business Logic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935224"/>
            <a:ext cx="3703320" cy="566928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548640" y="2935224"/>
            <a:ext cx="45720" cy="566928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731520" y="2971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32369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95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r>
              <a:rPr lang="hu-HU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95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r>
              <a:rPr lang="hu-HU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hu-HU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Java </a:t>
            </a:r>
            <a:r>
              <a:rPr lang="hu-HU" sz="95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r>
              <a:rPr lang="hu-HU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648456"/>
            <a:ext cx="3703320" cy="566928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23" name="Shape 21"/>
          <p:cNvSpPr/>
          <p:nvPr/>
        </p:nvSpPr>
        <p:spPr>
          <a:xfrm>
            <a:off x="548640" y="3648456"/>
            <a:ext cx="45720" cy="566928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731520" y="3685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Layer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3950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95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CorsFilter</a:t>
            </a:r>
            <a:r>
              <a:rPr lang="hu-HU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hu-HU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517ED7B2-F47C-1295-1E55-849CDF6288E4}"/>
              </a:ext>
            </a:extLst>
          </p:cNvPr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dirty="0" err="1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r>
              <a:rPr lang="hu-HU" sz="13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Design</a:t>
            </a:r>
            <a:endParaRPr lang="en-US" sz="1300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0A8B2591-7E28-F950-0C65-A4B2C77F7088}"/>
              </a:ext>
            </a:extLst>
          </p:cNvPr>
          <p:cNvSpPr/>
          <p:nvPr/>
        </p:nvSpPr>
        <p:spPr>
          <a:xfrm>
            <a:off x="4714142" y="1005840"/>
            <a:ext cx="45720" cy="3474720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CAFD384-77B5-312C-3551-25AB24DFA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961" y="1545336"/>
            <a:ext cx="2962180" cy="25743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Three-Role Access System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2697480" cy="2722098"/>
          </a:xfrm>
          <a:prstGeom prst="flowChartOffpageConnector">
            <a:avLst/>
          </a:prstGeom>
          <a:solidFill>
            <a:srgbClr val="2E2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2697480" cy="54864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hu-HU" dirty="0">
              <a:solidFill>
                <a:srgbClr val="3498DB"/>
              </a:solidFill>
              <a:highlight>
                <a:srgbClr val="FFFF00"/>
              </a:highlight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9" y="1613916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115253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305409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" y="38221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93387" y="1001268"/>
            <a:ext cx="2697480" cy="2726670"/>
          </a:xfrm>
          <a:prstGeom prst="flowChartOffpageConnector">
            <a:avLst/>
          </a:prstGeom>
          <a:solidFill>
            <a:srgbClr val="2E2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4" name="Shape 21"/>
          <p:cNvSpPr/>
          <p:nvPr/>
        </p:nvSpPr>
        <p:spPr>
          <a:xfrm>
            <a:off x="6193387" y="1001268"/>
            <a:ext cx="2697480" cy="54864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947" y="1613916"/>
            <a:ext cx="594360" cy="5943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216248" y="21166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Owner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3520440" y="38221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3256713" y="1001268"/>
            <a:ext cx="2697480" cy="2726670"/>
          </a:xfrm>
          <a:prstGeom prst="flowChartOffpageConnector">
            <a:avLst/>
          </a:prstGeom>
          <a:solidFill>
            <a:srgbClr val="2E2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40" name="Shape 36"/>
          <p:cNvSpPr/>
          <p:nvPr/>
        </p:nvSpPr>
        <p:spPr>
          <a:xfrm>
            <a:off x="3256713" y="1001268"/>
            <a:ext cx="269748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274" y="1613916"/>
            <a:ext cx="594360" cy="59436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3279574" y="2115253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6400800" y="26700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grpSp>
        <p:nvGrpSpPr>
          <p:cNvPr id="69" name="Csoportba foglalás 68">
            <a:extLst>
              <a:ext uri="{FF2B5EF4-FFF2-40B4-BE49-F238E27FC236}">
                <a16:creationId xmlns:a16="http://schemas.microsoft.com/office/drawing/2014/main" id="{1B49BA83-FE73-B4A1-7C65-52BA6A6820D9}"/>
              </a:ext>
            </a:extLst>
          </p:cNvPr>
          <p:cNvGrpSpPr/>
          <p:nvPr/>
        </p:nvGrpSpPr>
        <p:grpSpPr>
          <a:xfrm>
            <a:off x="590116" y="3834089"/>
            <a:ext cx="2090421" cy="693010"/>
            <a:chOff x="623567" y="3834089"/>
            <a:chExt cx="2090421" cy="693010"/>
          </a:xfrm>
        </p:grpSpPr>
        <p:sp>
          <p:nvSpPr>
            <p:cNvPr id="64" name="Shape 5">
              <a:extLst>
                <a:ext uri="{FF2B5EF4-FFF2-40B4-BE49-F238E27FC236}">
                  <a16:creationId xmlns:a16="http://schemas.microsoft.com/office/drawing/2014/main" id="{D29C8AF4-FD05-F148-68BA-876C7D6A7E05}"/>
                </a:ext>
              </a:extLst>
            </p:cNvPr>
            <p:cNvSpPr/>
            <p:nvPr/>
          </p:nvSpPr>
          <p:spPr>
            <a:xfrm>
              <a:off x="623567" y="3834089"/>
              <a:ext cx="2090421" cy="693010"/>
            </a:xfrm>
            <a:prstGeom prst="roundRect">
              <a:avLst/>
            </a:prstGeom>
            <a:solidFill>
              <a:srgbClr val="2E2E2E"/>
            </a:solidFill>
            <a:ln w="38100" cap="flat">
              <a:solidFill>
                <a:srgbClr val="3498DB"/>
              </a:solidFill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2090421"/>
                        <a:gd name="csY0" fmla="*/ 152403 h 914400"/>
                        <a:gd name="csX1" fmla="*/ 152403 w 2090421"/>
                        <a:gd name="csY1" fmla="*/ 0 h 914400"/>
                        <a:gd name="csX2" fmla="*/ 765464 w 2090421"/>
                        <a:gd name="csY2" fmla="*/ 0 h 914400"/>
                        <a:gd name="csX3" fmla="*/ 1360669 w 2090421"/>
                        <a:gd name="csY3" fmla="*/ 0 h 914400"/>
                        <a:gd name="csX4" fmla="*/ 1938018 w 2090421"/>
                        <a:gd name="csY4" fmla="*/ 0 h 914400"/>
                        <a:gd name="csX5" fmla="*/ 2090421 w 2090421"/>
                        <a:gd name="csY5" fmla="*/ 152403 h 914400"/>
                        <a:gd name="csX6" fmla="*/ 2090421 w 2090421"/>
                        <a:gd name="csY6" fmla="*/ 761997 h 914400"/>
                        <a:gd name="csX7" fmla="*/ 1938018 w 2090421"/>
                        <a:gd name="csY7" fmla="*/ 914400 h 914400"/>
                        <a:gd name="csX8" fmla="*/ 1324957 w 2090421"/>
                        <a:gd name="csY8" fmla="*/ 914400 h 914400"/>
                        <a:gd name="csX9" fmla="*/ 783320 w 2090421"/>
                        <a:gd name="csY9" fmla="*/ 914400 h 914400"/>
                        <a:gd name="csX10" fmla="*/ 152403 w 2090421"/>
                        <a:gd name="csY10" fmla="*/ 914400 h 914400"/>
                        <a:gd name="csX11" fmla="*/ 0 w 2090421"/>
                        <a:gd name="csY11" fmla="*/ 761997 h 914400"/>
                        <a:gd name="csX12" fmla="*/ 0 w 2090421"/>
                        <a:gd name="csY12" fmla="*/ 152403 h 9144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</a:cxnLst>
                      <a:rect l="l" t="t" r="r" b="b"/>
                      <a:pathLst>
                        <a:path w="2090421" h="914400" fill="none" extrusionOk="0">
                          <a:moveTo>
                            <a:pt x="0" y="152403"/>
                          </a:moveTo>
                          <a:cubicBezTo>
                            <a:pt x="-19455" y="71428"/>
                            <a:pt x="51418" y="-11602"/>
                            <a:pt x="152403" y="0"/>
                          </a:cubicBezTo>
                          <a:cubicBezTo>
                            <a:pt x="286883" y="23249"/>
                            <a:pt x="590636" y="-19540"/>
                            <a:pt x="765464" y="0"/>
                          </a:cubicBezTo>
                          <a:cubicBezTo>
                            <a:pt x="940292" y="19540"/>
                            <a:pt x="1094361" y="20319"/>
                            <a:pt x="1360669" y="0"/>
                          </a:cubicBezTo>
                          <a:cubicBezTo>
                            <a:pt x="1626977" y="-20319"/>
                            <a:pt x="1812791" y="-8532"/>
                            <a:pt x="1938018" y="0"/>
                          </a:cubicBezTo>
                          <a:cubicBezTo>
                            <a:pt x="2005006" y="707"/>
                            <a:pt x="2096323" y="57593"/>
                            <a:pt x="2090421" y="152403"/>
                          </a:cubicBezTo>
                          <a:cubicBezTo>
                            <a:pt x="2060604" y="338984"/>
                            <a:pt x="2066554" y="487662"/>
                            <a:pt x="2090421" y="761997"/>
                          </a:cubicBezTo>
                          <a:cubicBezTo>
                            <a:pt x="2097326" y="859839"/>
                            <a:pt x="2017412" y="916918"/>
                            <a:pt x="1938018" y="914400"/>
                          </a:cubicBezTo>
                          <a:cubicBezTo>
                            <a:pt x="1652155" y="944952"/>
                            <a:pt x="1596629" y="939332"/>
                            <a:pt x="1324957" y="914400"/>
                          </a:cubicBezTo>
                          <a:cubicBezTo>
                            <a:pt x="1053285" y="889468"/>
                            <a:pt x="1050708" y="891458"/>
                            <a:pt x="783320" y="914400"/>
                          </a:cubicBezTo>
                          <a:cubicBezTo>
                            <a:pt x="515932" y="937342"/>
                            <a:pt x="376016" y="931908"/>
                            <a:pt x="152403" y="914400"/>
                          </a:cubicBezTo>
                          <a:cubicBezTo>
                            <a:pt x="78553" y="918012"/>
                            <a:pt x="4389" y="860949"/>
                            <a:pt x="0" y="761997"/>
                          </a:cubicBezTo>
                          <a:cubicBezTo>
                            <a:pt x="10877" y="523932"/>
                            <a:pt x="13925" y="361090"/>
                            <a:pt x="0" y="152403"/>
                          </a:cubicBezTo>
                          <a:close/>
                        </a:path>
                        <a:path w="2090421" h="914400" stroke="0" extrusionOk="0">
                          <a:moveTo>
                            <a:pt x="0" y="152403"/>
                          </a:moveTo>
                          <a:cubicBezTo>
                            <a:pt x="-16982" y="57758"/>
                            <a:pt x="62541" y="2136"/>
                            <a:pt x="152403" y="0"/>
                          </a:cubicBezTo>
                          <a:cubicBezTo>
                            <a:pt x="436912" y="781"/>
                            <a:pt x="576947" y="852"/>
                            <a:pt x="783320" y="0"/>
                          </a:cubicBezTo>
                          <a:cubicBezTo>
                            <a:pt x="989693" y="-852"/>
                            <a:pt x="1200695" y="-18965"/>
                            <a:pt x="1360669" y="0"/>
                          </a:cubicBezTo>
                          <a:cubicBezTo>
                            <a:pt x="1520643" y="18965"/>
                            <a:pt x="1773609" y="6461"/>
                            <a:pt x="1938018" y="0"/>
                          </a:cubicBezTo>
                          <a:cubicBezTo>
                            <a:pt x="2017103" y="-16377"/>
                            <a:pt x="2091002" y="66084"/>
                            <a:pt x="2090421" y="152403"/>
                          </a:cubicBezTo>
                          <a:cubicBezTo>
                            <a:pt x="2090098" y="290573"/>
                            <a:pt x="2085949" y="533710"/>
                            <a:pt x="2090421" y="761997"/>
                          </a:cubicBezTo>
                          <a:cubicBezTo>
                            <a:pt x="2089473" y="837129"/>
                            <a:pt x="2016489" y="922321"/>
                            <a:pt x="1938018" y="914400"/>
                          </a:cubicBezTo>
                          <a:cubicBezTo>
                            <a:pt x="1743149" y="914613"/>
                            <a:pt x="1596026" y="919035"/>
                            <a:pt x="1378525" y="914400"/>
                          </a:cubicBezTo>
                          <a:cubicBezTo>
                            <a:pt x="1161024" y="909765"/>
                            <a:pt x="1061211" y="887980"/>
                            <a:pt x="783320" y="914400"/>
                          </a:cubicBezTo>
                          <a:cubicBezTo>
                            <a:pt x="505429" y="940820"/>
                            <a:pt x="451133" y="928225"/>
                            <a:pt x="152403" y="914400"/>
                          </a:cubicBezTo>
                          <a:cubicBezTo>
                            <a:pt x="76223" y="906505"/>
                            <a:pt x="3753" y="843747"/>
                            <a:pt x="0" y="761997"/>
                          </a:cubicBezTo>
                          <a:cubicBezTo>
                            <a:pt x="-2565" y="533545"/>
                            <a:pt x="29747" y="398115"/>
                            <a:pt x="0" y="15240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  <a:softEdge rad="0"/>
            </a:effectLst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61" name="Szövegdoboz 60">
              <a:extLst>
                <a:ext uri="{FF2B5EF4-FFF2-40B4-BE49-F238E27FC236}">
                  <a16:creationId xmlns:a16="http://schemas.microsoft.com/office/drawing/2014/main" id="{402D66F5-863E-7D60-9F04-5767C1AD5A2B}"/>
                </a:ext>
              </a:extLst>
            </p:cNvPr>
            <p:cNvSpPr txBox="1"/>
            <p:nvPr/>
          </p:nvSpPr>
          <p:spPr>
            <a:xfrm>
              <a:off x="939017" y="3995928"/>
              <a:ext cx="1459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err="1">
                  <a:solidFill>
                    <a:schemeClr val="bg1"/>
                  </a:solidFill>
                </a:rPr>
                <a:t>Weakest</a:t>
              </a:r>
              <a:r>
                <a:rPr lang="hu-HU" dirty="0">
                  <a:solidFill>
                    <a:schemeClr val="bg1"/>
                  </a:solidFill>
                </a:rPr>
                <a:t> </a:t>
              </a:r>
              <a:r>
                <a:rPr lang="hu-HU" dirty="0" err="1">
                  <a:solidFill>
                    <a:schemeClr val="bg1"/>
                  </a:solidFill>
                </a:rPr>
                <a:t>Role</a:t>
              </a:r>
              <a:endParaRPr lang="hu-H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Csoportba foglalás 75">
            <a:extLst>
              <a:ext uri="{FF2B5EF4-FFF2-40B4-BE49-F238E27FC236}">
                <a16:creationId xmlns:a16="http://schemas.microsoft.com/office/drawing/2014/main" id="{33B1CD18-067F-8D4B-1698-A6D4B6663AB5}"/>
              </a:ext>
            </a:extLst>
          </p:cNvPr>
          <p:cNvGrpSpPr/>
          <p:nvPr/>
        </p:nvGrpSpPr>
        <p:grpSpPr>
          <a:xfrm>
            <a:off x="3462612" y="3834089"/>
            <a:ext cx="2281367" cy="693010"/>
            <a:chOff x="3583102" y="3816970"/>
            <a:chExt cx="2281367" cy="693010"/>
          </a:xfrm>
        </p:grpSpPr>
        <p:sp>
          <p:nvSpPr>
            <p:cNvPr id="71" name="Shape 5">
              <a:extLst>
                <a:ext uri="{FF2B5EF4-FFF2-40B4-BE49-F238E27FC236}">
                  <a16:creationId xmlns:a16="http://schemas.microsoft.com/office/drawing/2014/main" id="{20617E50-E1D0-489D-A7DF-18AD43DF8997}"/>
                </a:ext>
              </a:extLst>
            </p:cNvPr>
            <p:cNvSpPr/>
            <p:nvPr/>
          </p:nvSpPr>
          <p:spPr>
            <a:xfrm>
              <a:off x="3583103" y="3816970"/>
              <a:ext cx="2281366" cy="693010"/>
            </a:xfrm>
            <a:prstGeom prst="roundRect">
              <a:avLst/>
            </a:prstGeom>
            <a:solidFill>
              <a:srgbClr val="2E2E2E"/>
            </a:solidFill>
            <a:ln w="38100" cap="flat">
              <a:solidFill>
                <a:srgbClr val="E74C3C"/>
              </a:solidFill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2090421"/>
                        <a:gd name="csY0" fmla="*/ 152403 h 914400"/>
                        <a:gd name="csX1" fmla="*/ 152403 w 2090421"/>
                        <a:gd name="csY1" fmla="*/ 0 h 914400"/>
                        <a:gd name="csX2" fmla="*/ 765464 w 2090421"/>
                        <a:gd name="csY2" fmla="*/ 0 h 914400"/>
                        <a:gd name="csX3" fmla="*/ 1360669 w 2090421"/>
                        <a:gd name="csY3" fmla="*/ 0 h 914400"/>
                        <a:gd name="csX4" fmla="*/ 1938018 w 2090421"/>
                        <a:gd name="csY4" fmla="*/ 0 h 914400"/>
                        <a:gd name="csX5" fmla="*/ 2090421 w 2090421"/>
                        <a:gd name="csY5" fmla="*/ 152403 h 914400"/>
                        <a:gd name="csX6" fmla="*/ 2090421 w 2090421"/>
                        <a:gd name="csY6" fmla="*/ 761997 h 914400"/>
                        <a:gd name="csX7" fmla="*/ 1938018 w 2090421"/>
                        <a:gd name="csY7" fmla="*/ 914400 h 914400"/>
                        <a:gd name="csX8" fmla="*/ 1324957 w 2090421"/>
                        <a:gd name="csY8" fmla="*/ 914400 h 914400"/>
                        <a:gd name="csX9" fmla="*/ 783320 w 2090421"/>
                        <a:gd name="csY9" fmla="*/ 914400 h 914400"/>
                        <a:gd name="csX10" fmla="*/ 152403 w 2090421"/>
                        <a:gd name="csY10" fmla="*/ 914400 h 914400"/>
                        <a:gd name="csX11" fmla="*/ 0 w 2090421"/>
                        <a:gd name="csY11" fmla="*/ 761997 h 914400"/>
                        <a:gd name="csX12" fmla="*/ 0 w 2090421"/>
                        <a:gd name="csY12" fmla="*/ 152403 h 9144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</a:cxnLst>
                      <a:rect l="l" t="t" r="r" b="b"/>
                      <a:pathLst>
                        <a:path w="2090421" h="914400" fill="none" extrusionOk="0">
                          <a:moveTo>
                            <a:pt x="0" y="152403"/>
                          </a:moveTo>
                          <a:cubicBezTo>
                            <a:pt x="-19455" y="71428"/>
                            <a:pt x="51418" y="-11602"/>
                            <a:pt x="152403" y="0"/>
                          </a:cubicBezTo>
                          <a:cubicBezTo>
                            <a:pt x="286883" y="23249"/>
                            <a:pt x="590636" y="-19540"/>
                            <a:pt x="765464" y="0"/>
                          </a:cubicBezTo>
                          <a:cubicBezTo>
                            <a:pt x="940292" y="19540"/>
                            <a:pt x="1094361" y="20319"/>
                            <a:pt x="1360669" y="0"/>
                          </a:cubicBezTo>
                          <a:cubicBezTo>
                            <a:pt x="1626977" y="-20319"/>
                            <a:pt x="1812791" y="-8532"/>
                            <a:pt x="1938018" y="0"/>
                          </a:cubicBezTo>
                          <a:cubicBezTo>
                            <a:pt x="2005006" y="707"/>
                            <a:pt x="2096323" y="57593"/>
                            <a:pt x="2090421" y="152403"/>
                          </a:cubicBezTo>
                          <a:cubicBezTo>
                            <a:pt x="2060604" y="338984"/>
                            <a:pt x="2066554" y="487662"/>
                            <a:pt x="2090421" y="761997"/>
                          </a:cubicBezTo>
                          <a:cubicBezTo>
                            <a:pt x="2097326" y="859839"/>
                            <a:pt x="2017412" y="916918"/>
                            <a:pt x="1938018" y="914400"/>
                          </a:cubicBezTo>
                          <a:cubicBezTo>
                            <a:pt x="1652155" y="944952"/>
                            <a:pt x="1596629" y="939332"/>
                            <a:pt x="1324957" y="914400"/>
                          </a:cubicBezTo>
                          <a:cubicBezTo>
                            <a:pt x="1053285" y="889468"/>
                            <a:pt x="1050708" y="891458"/>
                            <a:pt x="783320" y="914400"/>
                          </a:cubicBezTo>
                          <a:cubicBezTo>
                            <a:pt x="515932" y="937342"/>
                            <a:pt x="376016" y="931908"/>
                            <a:pt x="152403" y="914400"/>
                          </a:cubicBezTo>
                          <a:cubicBezTo>
                            <a:pt x="78553" y="918012"/>
                            <a:pt x="4389" y="860949"/>
                            <a:pt x="0" y="761997"/>
                          </a:cubicBezTo>
                          <a:cubicBezTo>
                            <a:pt x="10877" y="523932"/>
                            <a:pt x="13925" y="361090"/>
                            <a:pt x="0" y="152403"/>
                          </a:cubicBezTo>
                          <a:close/>
                        </a:path>
                        <a:path w="2090421" h="914400" stroke="0" extrusionOk="0">
                          <a:moveTo>
                            <a:pt x="0" y="152403"/>
                          </a:moveTo>
                          <a:cubicBezTo>
                            <a:pt x="-16982" y="57758"/>
                            <a:pt x="62541" y="2136"/>
                            <a:pt x="152403" y="0"/>
                          </a:cubicBezTo>
                          <a:cubicBezTo>
                            <a:pt x="436912" y="781"/>
                            <a:pt x="576947" y="852"/>
                            <a:pt x="783320" y="0"/>
                          </a:cubicBezTo>
                          <a:cubicBezTo>
                            <a:pt x="989693" y="-852"/>
                            <a:pt x="1200695" y="-18965"/>
                            <a:pt x="1360669" y="0"/>
                          </a:cubicBezTo>
                          <a:cubicBezTo>
                            <a:pt x="1520643" y="18965"/>
                            <a:pt x="1773609" y="6461"/>
                            <a:pt x="1938018" y="0"/>
                          </a:cubicBezTo>
                          <a:cubicBezTo>
                            <a:pt x="2017103" y="-16377"/>
                            <a:pt x="2091002" y="66084"/>
                            <a:pt x="2090421" y="152403"/>
                          </a:cubicBezTo>
                          <a:cubicBezTo>
                            <a:pt x="2090098" y="290573"/>
                            <a:pt x="2085949" y="533710"/>
                            <a:pt x="2090421" y="761997"/>
                          </a:cubicBezTo>
                          <a:cubicBezTo>
                            <a:pt x="2089473" y="837129"/>
                            <a:pt x="2016489" y="922321"/>
                            <a:pt x="1938018" y="914400"/>
                          </a:cubicBezTo>
                          <a:cubicBezTo>
                            <a:pt x="1743149" y="914613"/>
                            <a:pt x="1596026" y="919035"/>
                            <a:pt x="1378525" y="914400"/>
                          </a:cubicBezTo>
                          <a:cubicBezTo>
                            <a:pt x="1161024" y="909765"/>
                            <a:pt x="1061211" y="887980"/>
                            <a:pt x="783320" y="914400"/>
                          </a:cubicBezTo>
                          <a:cubicBezTo>
                            <a:pt x="505429" y="940820"/>
                            <a:pt x="451133" y="928225"/>
                            <a:pt x="152403" y="914400"/>
                          </a:cubicBezTo>
                          <a:cubicBezTo>
                            <a:pt x="76223" y="906505"/>
                            <a:pt x="3753" y="843747"/>
                            <a:pt x="0" y="761997"/>
                          </a:cubicBezTo>
                          <a:cubicBezTo>
                            <a:pt x="-2565" y="533545"/>
                            <a:pt x="29747" y="398115"/>
                            <a:pt x="0" y="15240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  <a:softEdge rad="0"/>
            </a:effectLst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72" name="Szövegdoboz 71">
              <a:extLst>
                <a:ext uri="{FF2B5EF4-FFF2-40B4-BE49-F238E27FC236}">
                  <a16:creationId xmlns:a16="http://schemas.microsoft.com/office/drawing/2014/main" id="{A650276F-1662-8BAE-11DD-B6A8179E2E0C}"/>
                </a:ext>
              </a:extLst>
            </p:cNvPr>
            <p:cNvSpPr txBox="1"/>
            <p:nvPr/>
          </p:nvSpPr>
          <p:spPr>
            <a:xfrm>
              <a:off x="3583102" y="3970490"/>
              <a:ext cx="2253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dirty="0" err="1">
                  <a:solidFill>
                    <a:schemeClr val="bg1"/>
                  </a:solidFill>
                </a:rPr>
                <a:t>Intermediate</a:t>
              </a:r>
              <a:r>
                <a:rPr lang="hu-HU" dirty="0">
                  <a:solidFill>
                    <a:schemeClr val="bg1"/>
                  </a:solidFill>
                </a:rPr>
                <a:t> </a:t>
              </a:r>
              <a:r>
                <a:rPr lang="hu-HU" dirty="0" err="1">
                  <a:solidFill>
                    <a:schemeClr val="bg1"/>
                  </a:solidFill>
                </a:rPr>
                <a:t>Role</a:t>
              </a:r>
              <a:endParaRPr lang="hu-H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3" name="Csoportba foglalás 72">
            <a:extLst>
              <a:ext uri="{FF2B5EF4-FFF2-40B4-BE49-F238E27FC236}">
                <a16:creationId xmlns:a16="http://schemas.microsoft.com/office/drawing/2014/main" id="{EF6D4D9D-553A-0A71-AD0F-0A0F24C35AE8}"/>
              </a:ext>
            </a:extLst>
          </p:cNvPr>
          <p:cNvGrpSpPr/>
          <p:nvPr/>
        </p:nvGrpSpPr>
        <p:grpSpPr>
          <a:xfrm>
            <a:off x="6463463" y="3816970"/>
            <a:ext cx="2090421" cy="693010"/>
            <a:chOff x="623567" y="3834089"/>
            <a:chExt cx="2090421" cy="693010"/>
          </a:xfrm>
        </p:grpSpPr>
        <p:sp>
          <p:nvSpPr>
            <p:cNvPr id="74" name="Shape 5">
              <a:extLst>
                <a:ext uri="{FF2B5EF4-FFF2-40B4-BE49-F238E27FC236}">
                  <a16:creationId xmlns:a16="http://schemas.microsoft.com/office/drawing/2014/main" id="{5AE481F4-E07E-7D1D-76AD-BCC177BC294E}"/>
                </a:ext>
              </a:extLst>
            </p:cNvPr>
            <p:cNvSpPr/>
            <p:nvPr/>
          </p:nvSpPr>
          <p:spPr>
            <a:xfrm>
              <a:off x="623567" y="3834089"/>
              <a:ext cx="2090421" cy="693010"/>
            </a:xfrm>
            <a:prstGeom prst="roundRect">
              <a:avLst/>
            </a:prstGeom>
            <a:solidFill>
              <a:srgbClr val="2E2E2E"/>
            </a:solidFill>
            <a:ln w="38100" cap="flat">
              <a:solidFill>
                <a:srgbClr val="D4A528"/>
              </a:solidFill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2090421"/>
                        <a:gd name="csY0" fmla="*/ 152403 h 914400"/>
                        <a:gd name="csX1" fmla="*/ 152403 w 2090421"/>
                        <a:gd name="csY1" fmla="*/ 0 h 914400"/>
                        <a:gd name="csX2" fmla="*/ 765464 w 2090421"/>
                        <a:gd name="csY2" fmla="*/ 0 h 914400"/>
                        <a:gd name="csX3" fmla="*/ 1360669 w 2090421"/>
                        <a:gd name="csY3" fmla="*/ 0 h 914400"/>
                        <a:gd name="csX4" fmla="*/ 1938018 w 2090421"/>
                        <a:gd name="csY4" fmla="*/ 0 h 914400"/>
                        <a:gd name="csX5" fmla="*/ 2090421 w 2090421"/>
                        <a:gd name="csY5" fmla="*/ 152403 h 914400"/>
                        <a:gd name="csX6" fmla="*/ 2090421 w 2090421"/>
                        <a:gd name="csY6" fmla="*/ 761997 h 914400"/>
                        <a:gd name="csX7" fmla="*/ 1938018 w 2090421"/>
                        <a:gd name="csY7" fmla="*/ 914400 h 914400"/>
                        <a:gd name="csX8" fmla="*/ 1324957 w 2090421"/>
                        <a:gd name="csY8" fmla="*/ 914400 h 914400"/>
                        <a:gd name="csX9" fmla="*/ 783320 w 2090421"/>
                        <a:gd name="csY9" fmla="*/ 914400 h 914400"/>
                        <a:gd name="csX10" fmla="*/ 152403 w 2090421"/>
                        <a:gd name="csY10" fmla="*/ 914400 h 914400"/>
                        <a:gd name="csX11" fmla="*/ 0 w 2090421"/>
                        <a:gd name="csY11" fmla="*/ 761997 h 914400"/>
                        <a:gd name="csX12" fmla="*/ 0 w 2090421"/>
                        <a:gd name="csY12" fmla="*/ 152403 h 9144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</a:cxnLst>
                      <a:rect l="l" t="t" r="r" b="b"/>
                      <a:pathLst>
                        <a:path w="2090421" h="914400" fill="none" extrusionOk="0">
                          <a:moveTo>
                            <a:pt x="0" y="152403"/>
                          </a:moveTo>
                          <a:cubicBezTo>
                            <a:pt x="-19455" y="71428"/>
                            <a:pt x="51418" y="-11602"/>
                            <a:pt x="152403" y="0"/>
                          </a:cubicBezTo>
                          <a:cubicBezTo>
                            <a:pt x="286883" y="23249"/>
                            <a:pt x="590636" y="-19540"/>
                            <a:pt x="765464" y="0"/>
                          </a:cubicBezTo>
                          <a:cubicBezTo>
                            <a:pt x="940292" y="19540"/>
                            <a:pt x="1094361" y="20319"/>
                            <a:pt x="1360669" y="0"/>
                          </a:cubicBezTo>
                          <a:cubicBezTo>
                            <a:pt x="1626977" y="-20319"/>
                            <a:pt x="1812791" y="-8532"/>
                            <a:pt x="1938018" y="0"/>
                          </a:cubicBezTo>
                          <a:cubicBezTo>
                            <a:pt x="2005006" y="707"/>
                            <a:pt x="2096323" y="57593"/>
                            <a:pt x="2090421" y="152403"/>
                          </a:cubicBezTo>
                          <a:cubicBezTo>
                            <a:pt x="2060604" y="338984"/>
                            <a:pt x="2066554" y="487662"/>
                            <a:pt x="2090421" y="761997"/>
                          </a:cubicBezTo>
                          <a:cubicBezTo>
                            <a:pt x="2097326" y="859839"/>
                            <a:pt x="2017412" y="916918"/>
                            <a:pt x="1938018" y="914400"/>
                          </a:cubicBezTo>
                          <a:cubicBezTo>
                            <a:pt x="1652155" y="944952"/>
                            <a:pt x="1596629" y="939332"/>
                            <a:pt x="1324957" y="914400"/>
                          </a:cubicBezTo>
                          <a:cubicBezTo>
                            <a:pt x="1053285" y="889468"/>
                            <a:pt x="1050708" y="891458"/>
                            <a:pt x="783320" y="914400"/>
                          </a:cubicBezTo>
                          <a:cubicBezTo>
                            <a:pt x="515932" y="937342"/>
                            <a:pt x="376016" y="931908"/>
                            <a:pt x="152403" y="914400"/>
                          </a:cubicBezTo>
                          <a:cubicBezTo>
                            <a:pt x="78553" y="918012"/>
                            <a:pt x="4389" y="860949"/>
                            <a:pt x="0" y="761997"/>
                          </a:cubicBezTo>
                          <a:cubicBezTo>
                            <a:pt x="10877" y="523932"/>
                            <a:pt x="13925" y="361090"/>
                            <a:pt x="0" y="152403"/>
                          </a:cubicBezTo>
                          <a:close/>
                        </a:path>
                        <a:path w="2090421" h="914400" stroke="0" extrusionOk="0">
                          <a:moveTo>
                            <a:pt x="0" y="152403"/>
                          </a:moveTo>
                          <a:cubicBezTo>
                            <a:pt x="-16982" y="57758"/>
                            <a:pt x="62541" y="2136"/>
                            <a:pt x="152403" y="0"/>
                          </a:cubicBezTo>
                          <a:cubicBezTo>
                            <a:pt x="436912" y="781"/>
                            <a:pt x="576947" y="852"/>
                            <a:pt x="783320" y="0"/>
                          </a:cubicBezTo>
                          <a:cubicBezTo>
                            <a:pt x="989693" y="-852"/>
                            <a:pt x="1200695" y="-18965"/>
                            <a:pt x="1360669" y="0"/>
                          </a:cubicBezTo>
                          <a:cubicBezTo>
                            <a:pt x="1520643" y="18965"/>
                            <a:pt x="1773609" y="6461"/>
                            <a:pt x="1938018" y="0"/>
                          </a:cubicBezTo>
                          <a:cubicBezTo>
                            <a:pt x="2017103" y="-16377"/>
                            <a:pt x="2091002" y="66084"/>
                            <a:pt x="2090421" y="152403"/>
                          </a:cubicBezTo>
                          <a:cubicBezTo>
                            <a:pt x="2090098" y="290573"/>
                            <a:pt x="2085949" y="533710"/>
                            <a:pt x="2090421" y="761997"/>
                          </a:cubicBezTo>
                          <a:cubicBezTo>
                            <a:pt x="2089473" y="837129"/>
                            <a:pt x="2016489" y="922321"/>
                            <a:pt x="1938018" y="914400"/>
                          </a:cubicBezTo>
                          <a:cubicBezTo>
                            <a:pt x="1743149" y="914613"/>
                            <a:pt x="1596026" y="919035"/>
                            <a:pt x="1378525" y="914400"/>
                          </a:cubicBezTo>
                          <a:cubicBezTo>
                            <a:pt x="1161024" y="909765"/>
                            <a:pt x="1061211" y="887980"/>
                            <a:pt x="783320" y="914400"/>
                          </a:cubicBezTo>
                          <a:cubicBezTo>
                            <a:pt x="505429" y="940820"/>
                            <a:pt x="451133" y="928225"/>
                            <a:pt x="152403" y="914400"/>
                          </a:cubicBezTo>
                          <a:cubicBezTo>
                            <a:pt x="76223" y="906505"/>
                            <a:pt x="3753" y="843747"/>
                            <a:pt x="0" y="761997"/>
                          </a:cubicBezTo>
                          <a:cubicBezTo>
                            <a:pt x="-2565" y="533545"/>
                            <a:pt x="29747" y="398115"/>
                            <a:pt x="0" y="15240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101600" dist="38100" dir="8100000" algn="bl" rotWithShape="0">
                <a:srgbClr val="000000">
                  <a:alpha val="30000"/>
                </a:srgbClr>
              </a:outerShdw>
              <a:softEdge rad="0"/>
            </a:effectLst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75" name="Szövegdoboz 74">
              <a:extLst>
                <a:ext uri="{FF2B5EF4-FFF2-40B4-BE49-F238E27FC236}">
                  <a16:creationId xmlns:a16="http://schemas.microsoft.com/office/drawing/2014/main" id="{1A454C34-1C49-C20D-F9B8-D78C5B1F7D6F}"/>
                </a:ext>
              </a:extLst>
            </p:cNvPr>
            <p:cNvSpPr txBox="1"/>
            <p:nvPr/>
          </p:nvSpPr>
          <p:spPr>
            <a:xfrm>
              <a:off x="907429" y="3995928"/>
              <a:ext cx="16353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</a:rPr>
                <a:t>Strongest </a:t>
              </a:r>
              <a:r>
                <a:rPr lang="hu-HU" dirty="0" err="1">
                  <a:solidFill>
                    <a:schemeClr val="bg1"/>
                  </a:solidFill>
                </a:rPr>
                <a:t>Role</a:t>
              </a:r>
              <a:endParaRPr lang="hu-HU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2669345" cy="1161288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3498DB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6069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435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463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2322576"/>
            <a:ext cx="2669345" cy="1161288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D4A528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65476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27340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1560" y="27614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20040" y="3621024"/>
            <a:ext cx="2669345" cy="1161288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9B59B6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48096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403461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System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1560" y="405993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154617" y="1024128"/>
            <a:ext cx="2669345" cy="1161288"/>
          </a:xfrm>
          <a:prstGeom prst="roundRect">
            <a:avLst/>
          </a:prstGeom>
          <a:solidFill>
            <a:srgbClr val="2E2E2E"/>
          </a:solidFill>
          <a:ln w="38100">
            <a:solidFill>
              <a:schemeClr val="bg1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25" name="Text 19"/>
          <p:cNvSpPr/>
          <p:nvPr/>
        </p:nvSpPr>
        <p:spPr>
          <a:xfrm>
            <a:off x="6886137" y="142927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0" y="1463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6154617" y="2322576"/>
            <a:ext cx="2669345" cy="1161288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E74C3C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0" name="Text 23"/>
          <p:cNvSpPr/>
          <p:nvPr/>
        </p:nvSpPr>
        <p:spPr>
          <a:xfrm>
            <a:off x="6886137" y="273405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86400" y="27614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6154617" y="3621024"/>
            <a:ext cx="2669345" cy="1161288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F39C12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4637" y="3948096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86137" y="403461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</a:t>
            </a:r>
            <a:r>
              <a:rPr lang="hu-H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Tests)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486400" y="405993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solidFill>
                <a:srgbClr val="AAAA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8F7CE5EA-CFCE-3038-AE63-20B50A1CA43C}"/>
              </a:ext>
            </a:extLst>
          </p:cNvPr>
          <p:cNvSpPr/>
          <p:nvPr/>
        </p:nvSpPr>
        <p:spPr>
          <a:xfrm>
            <a:off x="3237327" y="1024128"/>
            <a:ext cx="2669345" cy="3758184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2BB673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E827BDC2-CD5D-138F-0EF9-43A74D552A7F}"/>
              </a:ext>
            </a:extLst>
          </p:cNvPr>
          <p:cNvSpPr/>
          <p:nvPr/>
        </p:nvSpPr>
        <p:spPr>
          <a:xfrm>
            <a:off x="3680313" y="1809456"/>
            <a:ext cx="1806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r>
              <a:rPr lang="hu-HU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</a:t>
            </a:r>
            <a:endParaRPr lang="en-US" sz="2000" dirty="0"/>
          </a:p>
        </p:txBody>
      </p:sp>
      <p:sp>
        <p:nvSpPr>
          <p:cNvPr id="42" name="Szövegdoboz 41">
            <a:extLst>
              <a:ext uri="{FF2B5EF4-FFF2-40B4-BE49-F238E27FC236}">
                <a16:creationId xmlns:a16="http://schemas.microsoft.com/office/drawing/2014/main" id="{EA5E9297-7313-F438-91FA-EA5EE38863F3}"/>
              </a:ext>
            </a:extLst>
          </p:cNvPr>
          <p:cNvSpPr txBox="1"/>
          <p:nvPr/>
        </p:nvSpPr>
        <p:spPr>
          <a:xfrm>
            <a:off x="3999139" y="1750523"/>
            <a:ext cx="116843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hu-HU" sz="1500" dirty="0">
              <a:solidFill>
                <a:schemeClr val="bg1"/>
              </a:solidFill>
            </a:endParaRPr>
          </a:p>
          <a:p>
            <a:pPr algn="ctr"/>
            <a:endParaRPr lang="hu-HU" sz="1500" dirty="0">
              <a:solidFill>
                <a:schemeClr val="bg1"/>
              </a:solidFill>
            </a:endParaRPr>
          </a:p>
          <a:p>
            <a:pPr algn="ctr"/>
            <a:r>
              <a:rPr lang="hu-HU" sz="2800" dirty="0" err="1">
                <a:solidFill>
                  <a:schemeClr val="bg1"/>
                </a:solidFill>
              </a:rPr>
              <a:t>Card</a:t>
            </a:r>
            <a:endParaRPr lang="hu-HU" sz="2800" dirty="0">
              <a:solidFill>
                <a:schemeClr val="bg1"/>
              </a:solidFill>
            </a:endParaRPr>
          </a:p>
          <a:p>
            <a:pPr algn="ctr"/>
            <a:endParaRPr lang="hu-HU" sz="2800" dirty="0">
              <a:solidFill>
                <a:schemeClr val="bg1"/>
              </a:solidFill>
            </a:endParaRPr>
          </a:p>
          <a:p>
            <a:pPr algn="ctr"/>
            <a:r>
              <a:rPr lang="hu-HU" sz="2800" dirty="0" err="1">
                <a:solidFill>
                  <a:schemeClr val="bg1"/>
                </a:solidFill>
              </a:rPr>
              <a:t>PayPal</a:t>
            </a:r>
            <a:endParaRPr lang="hu-HU" sz="2800" dirty="0">
              <a:solidFill>
                <a:schemeClr val="bg1"/>
              </a:solidFill>
            </a:endParaRPr>
          </a:p>
          <a:p>
            <a:pPr algn="ctr"/>
            <a:endParaRPr lang="hu-HU" sz="2800" dirty="0">
              <a:solidFill>
                <a:schemeClr val="bg1"/>
              </a:solidFill>
            </a:endParaRPr>
          </a:p>
          <a:p>
            <a:pPr algn="ctr"/>
            <a:r>
              <a:rPr lang="hu-HU" sz="2800" dirty="0">
                <a:solidFill>
                  <a:schemeClr val="bg1"/>
                </a:solidFill>
              </a:rPr>
              <a:t>Cash</a:t>
            </a:r>
          </a:p>
        </p:txBody>
      </p:sp>
      <p:pic>
        <p:nvPicPr>
          <p:cNvPr id="49" name="Kép 48" descr="A képen képernyő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96691DE-5966-F3A1-2AFF-0DD0AA24DA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4228" y="1114506"/>
            <a:ext cx="612000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Kép 50" descr="A képen képernyőkép, szimbólum, Grafika, Téglala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A350418-E631-251F-14AB-09110E167C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9778" y="1165860"/>
            <a:ext cx="612000" cy="612000"/>
          </a:xfrm>
          <a:prstGeom prst="rect">
            <a:avLst/>
          </a:prstGeom>
        </p:spPr>
      </p:pic>
      <p:pic>
        <p:nvPicPr>
          <p:cNvPr id="55" name="Kép 54" descr="A képen képernyőkép, szimbólum, Betűtípus, szöve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7303B28-A3F7-D640-1851-07C7BB1B58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4637" y="2680248"/>
            <a:ext cx="457200" cy="457200"/>
          </a:xfrm>
          <a:prstGeom prst="rect">
            <a:avLst/>
          </a:prstGeom>
        </p:spPr>
      </p:pic>
      <p:pic>
        <p:nvPicPr>
          <p:cNvPr id="57" name="Kép 56" descr="A képen szimbólum, Betűtípus, Grafika, emblém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E937F62-6A92-9191-3801-694E1449B8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1775" y="1380912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86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60520" cy="3931920"/>
          </a:xfrm>
          <a:prstGeom prst="rect">
            <a:avLst/>
          </a:prstGeom>
          <a:solidFill>
            <a:srgbClr val="2E2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45720" cy="3931920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hu-HU" sz="1400" b="1" dirty="0" err="1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r>
              <a:rPr lang="en-US" sz="14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Version Control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1222431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(1 per member + main)</a:t>
            </a:r>
          </a:p>
        </p:txBody>
      </p:sp>
      <p:sp>
        <p:nvSpPr>
          <p:cNvPr id="13" name="Text 10"/>
          <p:cNvSpPr/>
          <p:nvPr/>
        </p:nvSpPr>
        <p:spPr>
          <a:xfrm>
            <a:off x="502920" y="2697480"/>
            <a:ext cx="3794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960120"/>
            <a:ext cx="4160520" cy="3931920"/>
          </a:xfrm>
          <a:prstGeom prst="rect">
            <a:avLst/>
          </a:prstGeom>
          <a:solidFill>
            <a:srgbClr val="2E2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5" name="Shape 12"/>
          <p:cNvSpPr/>
          <p:nvPr/>
        </p:nvSpPr>
        <p:spPr>
          <a:xfrm>
            <a:off x="4663440" y="960120"/>
            <a:ext cx="45720" cy="3931920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7899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– </a:t>
            </a:r>
            <a:r>
              <a:rPr lang="hu-HU" sz="14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</a:t>
            </a:r>
            <a:r>
              <a:rPr lang="hu-HU" sz="1400" b="1" dirty="0" err="1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46320" y="2697480"/>
            <a:ext cx="1783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87805EB-3513-18D8-49C9-23C2CC6E4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250" y="1995761"/>
            <a:ext cx="3885000" cy="2797200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B3C24C6D-7F48-26CB-3EAC-7F4102B41F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2690" y="1744593"/>
            <a:ext cx="2447739" cy="286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12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Assurance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514600" cy="914400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D4A528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365760" y="10241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32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r>
              <a:rPr lang="en-US" sz="32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15361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514600" cy="914400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D4A528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3154680" y="10241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32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154680" y="15361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0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</a:t>
            </a:r>
            <a:r>
              <a:rPr lang="hu-HU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0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960120"/>
            <a:ext cx="2514600" cy="914400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D4A528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5943600" y="10241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15361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Levels Tested</a:t>
            </a:r>
            <a:endParaRPr lang="en-US" sz="1000" dirty="0"/>
          </a:p>
        </p:txBody>
      </p:sp>
      <p:pic>
        <p:nvPicPr>
          <p:cNvPr id="39" name="Kép 38" descr="A képen képernyőkép, relux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F28476A5-DD48-769A-0CC8-489EFFEE9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30153"/>
            <a:ext cx="7894320" cy="300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78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 Plans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2697480" cy="1645920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3498DB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02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65506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Online Payment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697480" cy="1645920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D4A528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860" y="1606296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165483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080760" y="1005840"/>
            <a:ext cx="2697480" cy="1645920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9B59B6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1595745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26580" y="16611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Tracking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320040" y="2880360"/>
            <a:ext cx="2697480" cy="1645920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27AE60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7472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43000" y="35295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3200400" y="2880360"/>
            <a:ext cx="2697480" cy="1645920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E74C3C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1860" y="347472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77640" y="35295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Notifications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6080760" y="2880360"/>
            <a:ext cx="2697480" cy="1645920"/>
          </a:xfrm>
          <a:prstGeom prst="roundRect">
            <a:avLst/>
          </a:prstGeom>
          <a:solidFill>
            <a:srgbClr val="2E2E2E"/>
          </a:solidFill>
          <a:ln w="38100">
            <a:solidFill>
              <a:srgbClr val="F39C12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474720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789420" y="35295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94041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42424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943600" cy="73152"/>
          </a:xfrm>
          <a:prstGeom prst="rect">
            <a:avLst/>
          </a:prstGeom>
          <a:solidFill>
            <a:srgbClr val="D4A528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4A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r>
              <a:rPr lang="hu-HU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hu-HU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r>
              <a:rPr lang="hu-HU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362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KLSZ Faloda – Food Delivery Platform</a:t>
            </a:r>
            <a:endParaRPr lang="en-US" sz="1200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270E5457-AD11-892E-92A7-E3A8011F6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620" y="1122680"/>
            <a:ext cx="2418080" cy="2418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E9FC9C-49E3-4EA4-B1AC-1DF6F16D801F}">
  <we:reference id="wa200010001" version="1.0.0.0" store="en-US" storeType="OMEX"/>
  <we:alternateReferences>
    <we:reference id="WA200010001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5452</TotalTime>
  <Words>658</Words>
  <Application>Microsoft Office PowerPoint</Application>
  <PresentationFormat>Diavetítés a képernyőre (16:9 oldalarány)</PresentationFormat>
  <Paragraphs>149</Paragraphs>
  <Slides>13</Slides>
  <Notes>13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KLSZ Faloda – Food Delivery Platform</dc:title>
  <dc:subject>PptxGenJS Presentation</dc:subject>
  <dc:creator>KLSZ Team</dc:creator>
  <cp:lastModifiedBy>Pasztor Kevin</cp:lastModifiedBy>
  <cp:revision>16</cp:revision>
  <dcterms:created xsi:type="dcterms:W3CDTF">2026-02-18T10:14:27Z</dcterms:created>
  <dcterms:modified xsi:type="dcterms:W3CDTF">2026-04-30T17:57:14Z</dcterms:modified>
</cp:coreProperties>
</file>